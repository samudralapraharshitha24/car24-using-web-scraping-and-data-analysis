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59" r:id="rId19"/>
  </p:sldIdLst>
  <p:sldSz cx="12192000" cy="6858000"/>
  <p:notesSz cx="6858000" cy="9144000"/>
  <p:embeddedFontLst>
    <p:embeddedFont>
      <p:font typeface="Lato Black" panose="020F0502020204030203" pitchFamily="34" charset="0"/>
      <p:bold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0CC228-837B-451B-B76E-1CE57B65174C}" v="72" dt="2026-10-14T10:22:45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harshithasamudrala788@gmail.com" userId="28d42a6b8d779fe7" providerId="LiveId" clId="{7655A6C3-01EC-4D17-AC74-9584F6EDBBA0}"/>
    <pc:docChg chg="custSel addSld modSld">
      <pc:chgData name="praharshithasamudrala788@gmail.com" userId="28d42a6b8d779fe7" providerId="LiveId" clId="{7655A6C3-01EC-4D17-AC74-9584F6EDBBA0}" dt="2026-10-14T10:24:09.130" v="1473" actId="12385"/>
      <pc:docMkLst>
        <pc:docMk/>
      </pc:docMkLst>
      <pc:sldChg chg="modSp mod">
        <pc:chgData name="praharshithasamudrala788@gmail.com" userId="28d42a6b8d779fe7" providerId="LiveId" clId="{7655A6C3-01EC-4D17-AC74-9584F6EDBBA0}" dt="2026-10-14T08:53:48.756" v="30" actId="20577"/>
        <pc:sldMkLst>
          <pc:docMk/>
          <pc:sldMk cId="0" sldId="256"/>
        </pc:sldMkLst>
        <pc:spChg chg="mod">
          <ac:chgData name="praharshithasamudrala788@gmail.com" userId="28d42a6b8d779fe7" providerId="LiveId" clId="{7655A6C3-01EC-4D17-AC74-9584F6EDBBA0}" dt="2026-10-14T08:53:48.756" v="30" actId="20577"/>
          <ac:spMkLst>
            <pc:docMk/>
            <pc:sldMk cId="0" sldId="256"/>
            <ac:spMk id="99" creationId="{00000000-0000-0000-0000-000000000000}"/>
          </ac:spMkLst>
        </pc:spChg>
      </pc:sldChg>
      <pc:sldChg chg="modSp mod">
        <pc:chgData name="praharshithasamudrala788@gmail.com" userId="28d42a6b8d779fe7" providerId="LiveId" clId="{7655A6C3-01EC-4D17-AC74-9584F6EDBBA0}" dt="2026-10-14T08:59:42.991" v="351"/>
        <pc:sldMkLst>
          <pc:docMk/>
          <pc:sldMk cId="0" sldId="257"/>
        </pc:sldMkLst>
        <pc:spChg chg="mod">
          <ac:chgData name="praharshithasamudrala788@gmail.com" userId="28d42a6b8d779fe7" providerId="LiveId" clId="{7655A6C3-01EC-4D17-AC74-9584F6EDBBA0}" dt="2026-10-14T08:59:42.991" v="351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praharshithasamudrala788@gmail.com" userId="28d42a6b8d779fe7" providerId="LiveId" clId="{7655A6C3-01EC-4D17-AC74-9584F6EDBBA0}" dt="2026-10-14T08:55:04.821" v="50" actId="20577"/>
          <ac:spMkLst>
            <pc:docMk/>
            <pc:sldMk cId="0" sldId="257"/>
            <ac:spMk id="105" creationId="{00000000-0000-0000-0000-000000000000}"/>
          </ac:spMkLst>
        </pc:spChg>
      </pc:sldChg>
      <pc:sldChg chg="modSp mod">
        <pc:chgData name="praharshithasamudrala788@gmail.com" userId="28d42a6b8d779fe7" providerId="LiveId" clId="{7655A6C3-01EC-4D17-AC74-9584F6EDBBA0}" dt="2026-10-14T09:05:38.287" v="395" actId="14100"/>
        <pc:sldMkLst>
          <pc:docMk/>
          <pc:sldMk cId="0" sldId="258"/>
        </pc:sldMkLst>
        <pc:spChg chg="mod">
          <ac:chgData name="praharshithasamudrala788@gmail.com" userId="28d42a6b8d779fe7" providerId="LiveId" clId="{7655A6C3-01EC-4D17-AC74-9584F6EDBBA0}" dt="2026-10-14T09:04:46.967" v="390" actId="14100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praharshithasamudrala788@gmail.com" userId="28d42a6b8d779fe7" providerId="LiveId" clId="{7655A6C3-01EC-4D17-AC74-9584F6EDBBA0}" dt="2026-10-14T09:05:38.287" v="395" actId="14100"/>
          <ac:spMkLst>
            <pc:docMk/>
            <pc:sldMk cId="0" sldId="258"/>
            <ac:spMk id="111" creationId="{00000000-0000-0000-0000-000000000000}"/>
          </ac:spMkLst>
        </pc:spChg>
      </pc:sldChg>
      <pc:sldChg chg="addSp modSp new mod">
        <pc:chgData name="praharshithasamudrala788@gmail.com" userId="28d42a6b8d779fe7" providerId="LiveId" clId="{7655A6C3-01EC-4D17-AC74-9584F6EDBBA0}" dt="2026-10-14T09:11:55.238" v="434" actId="14100"/>
        <pc:sldMkLst>
          <pc:docMk/>
          <pc:sldMk cId="3077167655" sldId="260"/>
        </pc:sldMkLst>
        <pc:spChg chg="mod">
          <ac:chgData name="praharshithasamudrala788@gmail.com" userId="28d42a6b8d779fe7" providerId="LiveId" clId="{7655A6C3-01EC-4D17-AC74-9584F6EDBBA0}" dt="2026-10-14T09:08:06.958" v="420" actId="27636"/>
          <ac:spMkLst>
            <pc:docMk/>
            <pc:sldMk cId="3077167655" sldId="260"/>
            <ac:spMk id="2" creationId="{0AC8B9D2-D2A4-39C4-68BC-EF1BBEE0DE18}"/>
          </ac:spMkLst>
        </pc:spChg>
        <pc:spChg chg="mod">
          <ac:chgData name="praharshithasamudrala788@gmail.com" userId="28d42a6b8d779fe7" providerId="LiveId" clId="{7655A6C3-01EC-4D17-AC74-9584F6EDBBA0}" dt="2026-10-14T09:11:13.310" v="423" actId="255"/>
          <ac:spMkLst>
            <pc:docMk/>
            <pc:sldMk cId="3077167655" sldId="260"/>
            <ac:spMk id="3" creationId="{F4CD683A-E217-C002-CE36-E5A28B5CBA11}"/>
          </ac:spMkLst>
        </pc:spChg>
        <pc:picChg chg="add mod">
          <ac:chgData name="praharshithasamudrala788@gmail.com" userId="28d42a6b8d779fe7" providerId="LiveId" clId="{7655A6C3-01EC-4D17-AC74-9584F6EDBBA0}" dt="2026-10-14T09:11:55.238" v="434" actId="14100"/>
          <ac:picMkLst>
            <pc:docMk/>
            <pc:sldMk cId="3077167655" sldId="260"/>
            <ac:picMk id="4" creationId="{99DA77FC-201E-371E-9D85-8E26BB981798}"/>
          </ac:picMkLst>
        </pc:picChg>
      </pc:sldChg>
      <pc:sldChg chg="addSp modSp new mod">
        <pc:chgData name="praharshithasamudrala788@gmail.com" userId="28d42a6b8d779fe7" providerId="LiveId" clId="{7655A6C3-01EC-4D17-AC74-9584F6EDBBA0}" dt="2026-10-14T09:15:59.112" v="449" actId="1076"/>
        <pc:sldMkLst>
          <pc:docMk/>
          <pc:sldMk cId="3468572072" sldId="261"/>
        </pc:sldMkLst>
        <pc:spChg chg="mod">
          <ac:chgData name="praharshithasamudrala788@gmail.com" userId="28d42a6b8d779fe7" providerId="LiveId" clId="{7655A6C3-01EC-4D17-AC74-9584F6EDBBA0}" dt="2026-10-14T09:14:23.003" v="440" actId="207"/>
          <ac:spMkLst>
            <pc:docMk/>
            <pc:sldMk cId="3468572072" sldId="261"/>
            <ac:spMk id="2" creationId="{BD3A5F40-6B86-07BA-1A5B-372FD1AFA080}"/>
          </ac:spMkLst>
        </pc:spChg>
        <pc:spChg chg="mod">
          <ac:chgData name="praharshithasamudrala788@gmail.com" userId="28d42a6b8d779fe7" providerId="LiveId" clId="{7655A6C3-01EC-4D17-AC74-9584F6EDBBA0}" dt="2026-10-14T09:15:00.021" v="443" actId="255"/>
          <ac:spMkLst>
            <pc:docMk/>
            <pc:sldMk cId="3468572072" sldId="261"/>
            <ac:spMk id="3" creationId="{4C5531F2-C1C2-CCF0-00EB-321912E718A1}"/>
          </ac:spMkLst>
        </pc:spChg>
        <pc:picChg chg="add mod">
          <ac:chgData name="praharshithasamudrala788@gmail.com" userId="28d42a6b8d779fe7" providerId="LiveId" clId="{7655A6C3-01EC-4D17-AC74-9584F6EDBBA0}" dt="2026-10-14T09:15:59.112" v="449" actId="1076"/>
          <ac:picMkLst>
            <pc:docMk/>
            <pc:sldMk cId="3468572072" sldId="261"/>
            <ac:picMk id="4" creationId="{BCD7D153-FDB8-EFBC-BA1F-81B2703E1AFD}"/>
          </ac:picMkLst>
        </pc:picChg>
      </pc:sldChg>
      <pc:sldChg chg="addSp modSp new mod">
        <pc:chgData name="praharshithasamudrala788@gmail.com" userId="28d42a6b8d779fe7" providerId="LiveId" clId="{7655A6C3-01EC-4D17-AC74-9584F6EDBBA0}" dt="2026-10-14T09:19:46.110" v="471" actId="1076"/>
        <pc:sldMkLst>
          <pc:docMk/>
          <pc:sldMk cId="2539501087" sldId="262"/>
        </pc:sldMkLst>
        <pc:spChg chg="mod">
          <ac:chgData name="praharshithasamudrala788@gmail.com" userId="28d42a6b8d779fe7" providerId="LiveId" clId="{7655A6C3-01EC-4D17-AC74-9584F6EDBBA0}" dt="2026-10-14T09:18:27.026" v="459" actId="255"/>
          <ac:spMkLst>
            <pc:docMk/>
            <pc:sldMk cId="2539501087" sldId="262"/>
            <ac:spMk id="2" creationId="{919B1865-EA35-452C-83F4-DEC7E719E250}"/>
          </ac:spMkLst>
        </pc:spChg>
        <pc:spChg chg="mod">
          <ac:chgData name="praharshithasamudrala788@gmail.com" userId="28d42a6b8d779fe7" providerId="LiveId" clId="{7655A6C3-01EC-4D17-AC74-9584F6EDBBA0}" dt="2026-10-14T09:19:07.133" v="465" actId="5793"/>
          <ac:spMkLst>
            <pc:docMk/>
            <pc:sldMk cId="2539501087" sldId="262"/>
            <ac:spMk id="3" creationId="{373F6788-C67B-BA41-008D-46FE23AC4C54}"/>
          </ac:spMkLst>
        </pc:spChg>
        <pc:picChg chg="add mod">
          <ac:chgData name="praharshithasamudrala788@gmail.com" userId="28d42a6b8d779fe7" providerId="LiveId" clId="{7655A6C3-01EC-4D17-AC74-9584F6EDBBA0}" dt="2026-10-14T09:19:46.110" v="471" actId="1076"/>
          <ac:picMkLst>
            <pc:docMk/>
            <pc:sldMk cId="2539501087" sldId="262"/>
            <ac:picMk id="4" creationId="{F0939A3F-F59A-4981-73D9-307D9099C41E}"/>
          </ac:picMkLst>
        </pc:picChg>
      </pc:sldChg>
      <pc:sldChg chg="addSp delSp modSp new mod">
        <pc:chgData name="praharshithasamudrala788@gmail.com" userId="28d42a6b8d779fe7" providerId="LiveId" clId="{7655A6C3-01EC-4D17-AC74-9584F6EDBBA0}" dt="2026-10-14T09:38:02.106" v="603" actId="1076"/>
        <pc:sldMkLst>
          <pc:docMk/>
          <pc:sldMk cId="3810151602" sldId="263"/>
        </pc:sldMkLst>
        <pc:spChg chg="mod">
          <ac:chgData name="praharshithasamudrala788@gmail.com" userId="28d42a6b8d779fe7" providerId="LiveId" clId="{7655A6C3-01EC-4D17-AC74-9584F6EDBBA0}" dt="2026-10-14T09:21:27.532" v="478" actId="207"/>
          <ac:spMkLst>
            <pc:docMk/>
            <pc:sldMk cId="3810151602" sldId="263"/>
            <ac:spMk id="2" creationId="{E5F9CE16-ECAE-A922-FD0B-D17E128D8F1E}"/>
          </ac:spMkLst>
        </pc:spChg>
        <pc:spChg chg="mod">
          <ac:chgData name="praharshithasamudrala788@gmail.com" userId="28d42a6b8d779fe7" providerId="LiveId" clId="{7655A6C3-01EC-4D17-AC74-9584F6EDBBA0}" dt="2026-10-14T09:35:54.313" v="582" actId="20577"/>
          <ac:spMkLst>
            <pc:docMk/>
            <pc:sldMk cId="3810151602" sldId="263"/>
            <ac:spMk id="3" creationId="{1FF54948-75B6-E4CC-31B5-0359DA5C8E52}"/>
          </ac:spMkLst>
        </pc:spChg>
        <pc:spChg chg="add del mod">
          <ac:chgData name="praharshithasamudrala788@gmail.com" userId="28d42a6b8d779fe7" providerId="LiveId" clId="{7655A6C3-01EC-4D17-AC74-9584F6EDBBA0}" dt="2026-10-14T09:22:28.573" v="488" actId="478"/>
          <ac:spMkLst>
            <pc:docMk/>
            <pc:sldMk cId="3810151602" sldId="263"/>
            <ac:spMk id="6" creationId="{26C6EABB-3DB5-975D-6C76-1E9B4B47A6AB}"/>
          </ac:spMkLst>
        </pc:spChg>
        <pc:graphicFrameChg chg="add del mod modGraphic">
          <ac:chgData name="praharshithasamudrala788@gmail.com" userId="28d42a6b8d779fe7" providerId="LiveId" clId="{7655A6C3-01EC-4D17-AC74-9584F6EDBBA0}" dt="2026-10-14T09:22:28.573" v="488" actId="478"/>
          <ac:graphicFrameMkLst>
            <pc:docMk/>
            <pc:sldMk cId="3810151602" sldId="263"/>
            <ac:graphicFrameMk id="4" creationId="{2F88338D-348F-A89B-D2ED-8DC8F0E4413F}"/>
          </ac:graphicFrameMkLst>
        </pc:graphicFrameChg>
        <pc:graphicFrameChg chg="add del mod modGraphic">
          <ac:chgData name="praharshithasamudrala788@gmail.com" userId="28d42a6b8d779fe7" providerId="LiveId" clId="{7655A6C3-01EC-4D17-AC74-9584F6EDBBA0}" dt="2026-10-14T09:32:55.582" v="554" actId="478"/>
          <ac:graphicFrameMkLst>
            <pc:docMk/>
            <pc:sldMk cId="3810151602" sldId="263"/>
            <ac:graphicFrameMk id="7" creationId="{A54734B9-88EE-6943-0414-F67A35F446B5}"/>
          </ac:graphicFrameMkLst>
        </pc:graphicFrameChg>
        <pc:picChg chg="add mod">
          <ac:chgData name="praharshithasamudrala788@gmail.com" userId="28d42a6b8d779fe7" providerId="LiveId" clId="{7655A6C3-01EC-4D17-AC74-9584F6EDBBA0}" dt="2026-10-14T09:38:02.106" v="603" actId="1076"/>
          <ac:picMkLst>
            <pc:docMk/>
            <pc:sldMk cId="3810151602" sldId="263"/>
            <ac:picMk id="8" creationId="{A7260C96-77EA-F096-B39C-466400A516F8}"/>
          </ac:picMkLst>
        </pc:picChg>
      </pc:sldChg>
      <pc:sldChg chg="addSp delSp modSp new mod">
        <pc:chgData name="praharshithasamudrala788@gmail.com" userId="28d42a6b8d779fe7" providerId="LiveId" clId="{7655A6C3-01EC-4D17-AC74-9584F6EDBBA0}" dt="2026-10-14T10:24:09.130" v="1473" actId="12385"/>
        <pc:sldMkLst>
          <pc:docMk/>
          <pc:sldMk cId="2340686278" sldId="264"/>
        </pc:sldMkLst>
        <pc:spChg chg="del">
          <ac:chgData name="praharshithasamudrala788@gmail.com" userId="28d42a6b8d779fe7" providerId="LiveId" clId="{7655A6C3-01EC-4D17-AC74-9584F6EDBBA0}" dt="2026-10-14T09:22:49.568" v="493" actId="478"/>
          <ac:spMkLst>
            <pc:docMk/>
            <pc:sldMk cId="2340686278" sldId="264"/>
            <ac:spMk id="2" creationId="{549441C4-C293-8DE8-D01C-BA34DB12F56A}"/>
          </ac:spMkLst>
        </pc:spChg>
        <pc:spChg chg="del mod">
          <ac:chgData name="praharshithasamudrala788@gmail.com" userId="28d42a6b8d779fe7" providerId="LiveId" clId="{7655A6C3-01EC-4D17-AC74-9584F6EDBBA0}" dt="2026-10-14T09:33:00.408" v="555" actId="478"/>
          <ac:spMkLst>
            <pc:docMk/>
            <pc:sldMk cId="2340686278" sldId="264"/>
            <ac:spMk id="3" creationId="{53A08068-882E-D21B-CD14-3350924F3BC9}"/>
          </ac:spMkLst>
        </pc:spChg>
        <pc:spChg chg="add del mod">
          <ac:chgData name="praharshithasamudrala788@gmail.com" userId="28d42a6b8d779fe7" providerId="LiveId" clId="{7655A6C3-01EC-4D17-AC74-9584F6EDBBA0}" dt="2026-10-14T09:23:02.572" v="511" actId="478"/>
          <ac:spMkLst>
            <pc:docMk/>
            <pc:sldMk cId="2340686278" sldId="264"/>
            <ac:spMk id="6" creationId="{E6946838-993A-F4F7-EF01-A0F05A966C7E}"/>
          </ac:spMkLst>
        </pc:spChg>
        <pc:graphicFrameChg chg="add del mod modGraphic">
          <ac:chgData name="praharshithasamudrala788@gmail.com" userId="28d42a6b8d779fe7" providerId="LiveId" clId="{7655A6C3-01EC-4D17-AC74-9584F6EDBBA0}" dt="2026-10-14T09:31:23.592" v="538" actId="478"/>
          <ac:graphicFrameMkLst>
            <pc:docMk/>
            <pc:sldMk cId="2340686278" sldId="264"/>
            <ac:graphicFrameMk id="4" creationId="{43CA42D0-22C9-071F-128C-6FDC1918E961}"/>
          </ac:graphicFrameMkLst>
        </pc:graphicFrameChg>
        <pc:graphicFrameChg chg="add mod modGraphic">
          <ac:chgData name="praharshithasamudrala788@gmail.com" userId="28d42a6b8d779fe7" providerId="LiveId" clId="{7655A6C3-01EC-4D17-AC74-9584F6EDBBA0}" dt="2026-10-14T10:24:09.130" v="1473" actId="12385"/>
          <ac:graphicFrameMkLst>
            <pc:docMk/>
            <pc:sldMk cId="2340686278" sldId="264"/>
            <ac:graphicFrameMk id="8" creationId="{F311CDFD-FBF2-23D0-47E8-31E9EEF616C3}"/>
          </ac:graphicFrameMkLst>
        </pc:graphicFrameChg>
      </pc:sldChg>
      <pc:sldChg chg="modSp new mod">
        <pc:chgData name="praharshithasamudrala788@gmail.com" userId="28d42a6b8d779fe7" providerId="LiveId" clId="{7655A6C3-01EC-4D17-AC74-9584F6EDBBA0}" dt="2026-10-14T09:41:03.830" v="619" actId="255"/>
        <pc:sldMkLst>
          <pc:docMk/>
          <pc:sldMk cId="2062308669" sldId="265"/>
        </pc:sldMkLst>
        <pc:spChg chg="mod">
          <ac:chgData name="praharshithasamudrala788@gmail.com" userId="28d42a6b8d779fe7" providerId="LiveId" clId="{7655A6C3-01EC-4D17-AC74-9584F6EDBBA0}" dt="2026-10-14T09:36:30.919" v="593" actId="5793"/>
          <ac:spMkLst>
            <pc:docMk/>
            <pc:sldMk cId="2062308669" sldId="265"/>
            <ac:spMk id="2" creationId="{66E84946-644E-E516-50A2-06B118EB800C}"/>
          </ac:spMkLst>
        </pc:spChg>
        <pc:spChg chg="mod">
          <ac:chgData name="praharshithasamudrala788@gmail.com" userId="28d42a6b8d779fe7" providerId="LiveId" clId="{7655A6C3-01EC-4D17-AC74-9584F6EDBBA0}" dt="2026-10-14T09:41:03.830" v="619" actId="255"/>
          <ac:spMkLst>
            <pc:docMk/>
            <pc:sldMk cId="2062308669" sldId="265"/>
            <ac:spMk id="3" creationId="{3EEA2921-69F5-AB12-27B2-6450603E24C7}"/>
          </ac:spMkLst>
        </pc:spChg>
      </pc:sldChg>
      <pc:sldChg chg="modSp new mod">
        <pc:chgData name="praharshithasamudrala788@gmail.com" userId="28d42a6b8d779fe7" providerId="LiveId" clId="{7655A6C3-01EC-4D17-AC74-9584F6EDBBA0}" dt="2026-10-14T09:40:42.021" v="618" actId="5793"/>
        <pc:sldMkLst>
          <pc:docMk/>
          <pc:sldMk cId="2310197884" sldId="266"/>
        </pc:sldMkLst>
        <pc:spChg chg="mod">
          <ac:chgData name="praharshithasamudrala788@gmail.com" userId="28d42a6b8d779fe7" providerId="LiveId" clId="{7655A6C3-01EC-4D17-AC74-9584F6EDBBA0}" dt="2026-10-14T09:40:21.555" v="614" actId="14100"/>
          <ac:spMkLst>
            <pc:docMk/>
            <pc:sldMk cId="2310197884" sldId="266"/>
            <ac:spMk id="2" creationId="{F33FFA0E-1A17-25BD-2001-DC35AB4816C8}"/>
          </ac:spMkLst>
        </pc:spChg>
        <pc:spChg chg="mod">
          <ac:chgData name="praharshithasamudrala788@gmail.com" userId="28d42a6b8d779fe7" providerId="LiveId" clId="{7655A6C3-01EC-4D17-AC74-9584F6EDBBA0}" dt="2026-10-14T09:40:42.021" v="618" actId="5793"/>
          <ac:spMkLst>
            <pc:docMk/>
            <pc:sldMk cId="2310197884" sldId="266"/>
            <ac:spMk id="3" creationId="{79E52E94-D260-72DE-2F9C-4F56F8FD10EF}"/>
          </ac:spMkLst>
        </pc:spChg>
      </pc:sldChg>
      <pc:sldChg chg="addSp delSp modSp new mod">
        <pc:chgData name="praharshithasamudrala788@gmail.com" userId="28d42a6b8d779fe7" providerId="LiveId" clId="{7655A6C3-01EC-4D17-AC74-9584F6EDBBA0}" dt="2026-10-14T09:45:42.452" v="823" actId="14100"/>
        <pc:sldMkLst>
          <pc:docMk/>
          <pc:sldMk cId="3716040010" sldId="267"/>
        </pc:sldMkLst>
        <pc:spChg chg="mod">
          <ac:chgData name="praharshithasamudrala788@gmail.com" userId="28d42a6b8d779fe7" providerId="LiveId" clId="{7655A6C3-01EC-4D17-AC74-9584F6EDBBA0}" dt="2026-10-14T09:42:55.002" v="629" actId="27636"/>
          <ac:spMkLst>
            <pc:docMk/>
            <pc:sldMk cId="3716040010" sldId="267"/>
            <ac:spMk id="2" creationId="{9F836B70-7F5D-04A7-BADE-F1B30C617D1F}"/>
          </ac:spMkLst>
        </pc:spChg>
        <pc:spChg chg="del mod">
          <ac:chgData name="praharshithasamudrala788@gmail.com" userId="28d42a6b8d779fe7" providerId="LiveId" clId="{7655A6C3-01EC-4D17-AC74-9584F6EDBBA0}" dt="2026-10-14T09:45:32.230" v="822" actId="478"/>
          <ac:spMkLst>
            <pc:docMk/>
            <pc:sldMk cId="3716040010" sldId="267"/>
            <ac:spMk id="3" creationId="{CFA4B57E-CE38-BE2B-E971-2A2EC3242A0F}"/>
          </ac:spMkLst>
        </pc:spChg>
        <pc:graphicFrameChg chg="add mod modGraphic">
          <ac:chgData name="praharshithasamudrala788@gmail.com" userId="28d42a6b8d779fe7" providerId="LiveId" clId="{7655A6C3-01EC-4D17-AC74-9584F6EDBBA0}" dt="2026-10-14T09:45:42.452" v="823" actId="14100"/>
          <ac:graphicFrameMkLst>
            <pc:docMk/>
            <pc:sldMk cId="3716040010" sldId="267"/>
            <ac:graphicFrameMk id="4" creationId="{A4AAB3FA-1595-1762-2930-DC901CF830C5}"/>
          </ac:graphicFrameMkLst>
        </pc:graphicFrameChg>
      </pc:sldChg>
      <pc:sldChg chg="modSp new mod">
        <pc:chgData name="praharshithasamudrala788@gmail.com" userId="28d42a6b8d779fe7" providerId="LiveId" clId="{7655A6C3-01EC-4D17-AC74-9584F6EDBBA0}" dt="2026-10-14T09:48:55.112" v="837" actId="27636"/>
        <pc:sldMkLst>
          <pc:docMk/>
          <pc:sldMk cId="4224545169" sldId="268"/>
        </pc:sldMkLst>
        <pc:spChg chg="mod">
          <ac:chgData name="praharshithasamudrala788@gmail.com" userId="28d42a6b8d779fe7" providerId="LiveId" clId="{7655A6C3-01EC-4D17-AC74-9584F6EDBBA0}" dt="2026-10-14T09:48:09.020" v="833" actId="14100"/>
          <ac:spMkLst>
            <pc:docMk/>
            <pc:sldMk cId="4224545169" sldId="268"/>
            <ac:spMk id="2" creationId="{6CFA2524-60B5-472A-81EB-1739ED04FAF7}"/>
          </ac:spMkLst>
        </pc:spChg>
        <pc:spChg chg="mod">
          <ac:chgData name="praharshithasamudrala788@gmail.com" userId="28d42a6b8d779fe7" providerId="LiveId" clId="{7655A6C3-01EC-4D17-AC74-9584F6EDBBA0}" dt="2026-10-14T09:48:55.112" v="837" actId="27636"/>
          <ac:spMkLst>
            <pc:docMk/>
            <pc:sldMk cId="4224545169" sldId="268"/>
            <ac:spMk id="3" creationId="{DE84DE91-CA98-8A80-80B4-45C3A568B346}"/>
          </ac:spMkLst>
        </pc:spChg>
      </pc:sldChg>
      <pc:sldChg chg="addSp delSp modSp new mod modClrScheme chgLayout">
        <pc:chgData name="praharshithasamudrala788@gmail.com" userId="28d42a6b8d779fe7" providerId="LiveId" clId="{7655A6C3-01EC-4D17-AC74-9584F6EDBBA0}" dt="2026-10-14T10:05:02.832" v="1226" actId="1076"/>
        <pc:sldMkLst>
          <pc:docMk/>
          <pc:sldMk cId="4051809990" sldId="269"/>
        </pc:sldMkLst>
        <pc:spChg chg="mod ord">
          <ac:chgData name="praharshithasamudrala788@gmail.com" userId="28d42a6b8d779fe7" providerId="LiveId" clId="{7655A6C3-01EC-4D17-AC74-9584F6EDBBA0}" dt="2026-10-14T10:03:55.285" v="1209" actId="20577"/>
          <ac:spMkLst>
            <pc:docMk/>
            <pc:sldMk cId="4051809990" sldId="269"/>
            <ac:spMk id="2" creationId="{CBC399B8-20D4-8038-8140-092B38D38E9C}"/>
          </ac:spMkLst>
        </pc:spChg>
        <pc:spChg chg="del mod">
          <ac:chgData name="praharshithasamudrala788@gmail.com" userId="28d42a6b8d779fe7" providerId="LiveId" clId="{7655A6C3-01EC-4D17-AC74-9584F6EDBBA0}" dt="2026-10-14T09:51:08.011" v="857" actId="478"/>
          <ac:spMkLst>
            <pc:docMk/>
            <pc:sldMk cId="4051809990" sldId="269"/>
            <ac:spMk id="3" creationId="{F0FBE2F9-DFF4-A9D9-467D-D744C4B75B57}"/>
          </ac:spMkLst>
        </pc:spChg>
        <pc:spChg chg="add del mod ord">
          <ac:chgData name="praharshithasamudrala788@gmail.com" userId="28d42a6b8d779fe7" providerId="LiveId" clId="{7655A6C3-01EC-4D17-AC74-9584F6EDBBA0}" dt="2026-10-14T09:52:19.411" v="863" actId="700"/>
          <ac:spMkLst>
            <pc:docMk/>
            <pc:sldMk cId="4051809990" sldId="269"/>
            <ac:spMk id="6" creationId="{8D965AFF-25FA-3E0D-207E-AC57E3751D6F}"/>
          </ac:spMkLst>
        </pc:spChg>
        <pc:spChg chg="add mod ord">
          <ac:chgData name="praharshithasamudrala788@gmail.com" userId="28d42a6b8d779fe7" providerId="LiveId" clId="{7655A6C3-01EC-4D17-AC74-9584F6EDBBA0}" dt="2026-10-14T10:00:46.815" v="1123" actId="207"/>
          <ac:spMkLst>
            <pc:docMk/>
            <pc:sldMk cId="4051809990" sldId="269"/>
            <ac:spMk id="9" creationId="{0E1CE6CF-9A25-029D-E5A1-FC4124F40E37}"/>
          </ac:spMkLst>
        </pc:spChg>
        <pc:picChg chg="add mod">
          <ac:chgData name="praharshithasamudrala788@gmail.com" userId="28d42a6b8d779fe7" providerId="LiveId" clId="{7655A6C3-01EC-4D17-AC74-9584F6EDBBA0}" dt="2026-10-14T10:05:02.832" v="1226" actId="1076"/>
          <ac:picMkLst>
            <pc:docMk/>
            <pc:sldMk cId="4051809990" sldId="269"/>
            <ac:picMk id="5" creationId="{26E0FF6F-7BCE-F65A-6D2F-31A5FF999EF3}"/>
          </ac:picMkLst>
        </pc:picChg>
        <pc:picChg chg="add mod">
          <ac:chgData name="praharshithasamudrala788@gmail.com" userId="28d42a6b8d779fe7" providerId="LiveId" clId="{7655A6C3-01EC-4D17-AC74-9584F6EDBBA0}" dt="2026-10-14T10:04:04.006" v="1212" actId="1076"/>
          <ac:picMkLst>
            <pc:docMk/>
            <pc:sldMk cId="4051809990" sldId="269"/>
            <ac:picMk id="8" creationId="{E2F24ECD-695D-062C-C897-AA0DAE62D2A1}"/>
          </ac:picMkLst>
        </pc:picChg>
        <pc:picChg chg="add mod">
          <ac:chgData name="praharshithasamudrala788@gmail.com" userId="28d42a6b8d779fe7" providerId="LiveId" clId="{7655A6C3-01EC-4D17-AC74-9584F6EDBBA0}" dt="2026-10-14T10:04:55.192" v="1225" actId="14100"/>
          <ac:picMkLst>
            <pc:docMk/>
            <pc:sldMk cId="4051809990" sldId="269"/>
            <ac:picMk id="11" creationId="{2CA430E7-314B-125F-C928-662DF619A6A8}"/>
          </ac:picMkLst>
        </pc:picChg>
        <pc:picChg chg="add mod">
          <ac:chgData name="praharshithasamudrala788@gmail.com" userId="28d42a6b8d779fe7" providerId="LiveId" clId="{7655A6C3-01EC-4D17-AC74-9584F6EDBBA0}" dt="2026-10-14T10:04:44.856" v="1222" actId="14100"/>
          <ac:picMkLst>
            <pc:docMk/>
            <pc:sldMk cId="4051809990" sldId="269"/>
            <ac:picMk id="13" creationId="{4171FBAB-0325-EB99-C6B0-159331C565D0}"/>
          </ac:picMkLst>
        </pc:picChg>
        <pc:picChg chg="add mod">
          <ac:chgData name="praharshithasamudrala788@gmail.com" userId="28d42a6b8d779fe7" providerId="LiveId" clId="{7655A6C3-01EC-4D17-AC74-9584F6EDBBA0}" dt="2026-10-14T10:04:34.009" v="1219" actId="14100"/>
          <ac:picMkLst>
            <pc:docMk/>
            <pc:sldMk cId="4051809990" sldId="269"/>
            <ac:picMk id="15" creationId="{9604FCFA-2D73-0D63-5D3D-9E9167CE11A8}"/>
          </ac:picMkLst>
        </pc:picChg>
        <pc:picChg chg="add mod">
          <ac:chgData name="praharshithasamudrala788@gmail.com" userId="28d42a6b8d779fe7" providerId="LiveId" clId="{7655A6C3-01EC-4D17-AC74-9584F6EDBBA0}" dt="2026-10-14T10:04:48.352" v="1223" actId="14100"/>
          <ac:picMkLst>
            <pc:docMk/>
            <pc:sldMk cId="4051809990" sldId="269"/>
            <ac:picMk id="17" creationId="{E043B1B2-0DCA-DCD0-CF5C-62C1093E4492}"/>
          </ac:picMkLst>
        </pc:picChg>
      </pc:sldChg>
      <pc:sldChg chg="addSp delSp modSp new mod modClrScheme chgLayout">
        <pc:chgData name="praharshithasamudrala788@gmail.com" userId="28d42a6b8d779fe7" providerId="LiveId" clId="{7655A6C3-01EC-4D17-AC74-9584F6EDBBA0}" dt="2026-10-14T10:12:22.829" v="1294" actId="122"/>
        <pc:sldMkLst>
          <pc:docMk/>
          <pc:sldMk cId="1408518703" sldId="270"/>
        </pc:sldMkLst>
        <pc:spChg chg="del mod ord">
          <ac:chgData name="praharshithasamudrala788@gmail.com" userId="28d42a6b8d779fe7" providerId="LiveId" clId="{7655A6C3-01EC-4D17-AC74-9584F6EDBBA0}" dt="2026-10-14T10:05:17.958" v="1228" actId="700"/>
          <ac:spMkLst>
            <pc:docMk/>
            <pc:sldMk cId="1408518703" sldId="270"/>
            <ac:spMk id="2" creationId="{E11AE566-5AAF-7A77-486C-EFAB4213732E}"/>
          </ac:spMkLst>
        </pc:spChg>
        <pc:spChg chg="del mod ord">
          <ac:chgData name="praharshithasamudrala788@gmail.com" userId="28d42a6b8d779fe7" providerId="LiveId" clId="{7655A6C3-01EC-4D17-AC74-9584F6EDBBA0}" dt="2026-10-14T10:05:17.958" v="1228" actId="700"/>
          <ac:spMkLst>
            <pc:docMk/>
            <pc:sldMk cId="1408518703" sldId="270"/>
            <ac:spMk id="3" creationId="{73419D81-318C-BBE7-F7A5-3A5077093DA7}"/>
          </ac:spMkLst>
        </pc:spChg>
        <pc:spChg chg="add mod ord">
          <ac:chgData name="praharshithasamudrala788@gmail.com" userId="28d42a6b8d779fe7" providerId="LiveId" clId="{7655A6C3-01EC-4D17-AC74-9584F6EDBBA0}" dt="2026-10-14T10:08:50.552" v="1253" actId="14100"/>
          <ac:spMkLst>
            <pc:docMk/>
            <pc:sldMk cId="1408518703" sldId="270"/>
            <ac:spMk id="4" creationId="{4F89D5F3-CBF1-C85D-98D9-6286D1E4219D}"/>
          </ac:spMkLst>
        </pc:spChg>
        <pc:spChg chg="add mod ord">
          <ac:chgData name="praharshithasamudrala788@gmail.com" userId="28d42a6b8d779fe7" providerId="LiveId" clId="{7655A6C3-01EC-4D17-AC74-9584F6EDBBA0}" dt="2026-10-14T10:09:31.716" v="1258" actId="255"/>
          <ac:spMkLst>
            <pc:docMk/>
            <pc:sldMk cId="1408518703" sldId="270"/>
            <ac:spMk id="5" creationId="{9B5A6217-EA86-3D59-3D9A-3577A8385CCA}"/>
          </ac:spMkLst>
        </pc:spChg>
        <pc:graphicFrameChg chg="add mod modGraphic">
          <ac:chgData name="praharshithasamudrala788@gmail.com" userId="28d42a6b8d779fe7" providerId="LiveId" clId="{7655A6C3-01EC-4D17-AC74-9584F6EDBBA0}" dt="2026-10-14T10:12:22.829" v="1294" actId="122"/>
          <ac:graphicFrameMkLst>
            <pc:docMk/>
            <pc:sldMk cId="1408518703" sldId="270"/>
            <ac:graphicFrameMk id="6" creationId="{DC360DC2-E404-B339-F285-C09E05F8B206}"/>
          </ac:graphicFrameMkLst>
        </pc:graphicFrameChg>
      </pc:sldChg>
      <pc:sldChg chg="addSp delSp modSp new mod">
        <pc:chgData name="praharshithasamudrala788@gmail.com" userId="28d42a6b8d779fe7" providerId="LiveId" clId="{7655A6C3-01EC-4D17-AC74-9584F6EDBBA0}" dt="2026-10-14T10:15:45.018" v="1316" actId="5793"/>
        <pc:sldMkLst>
          <pc:docMk/>
          <pc:sldMk cId="3343058798" sldId="271"/>
        </pc:sldMkLst>
        <pc:spChg chg="del">
          <ac:chgData name="praharshithasamudrala788@gmail.com" userId="28d42a6b8d779fe7" providerId="LiveId" clId="{7655A6C3-01EC-4D17-AC74-9584F6EDBBA0}" dt="2026-10-14T10:13:23.750" v="1296" actId="478"/>
          <ac:spMkLst>
            <pc:docMk/>
            <pc:sldMk cId="3343058798" sldId="271"/>
            <ac:spMk id="2" creationId="{0A352379-788E-8913-305A-27C778E2E3B2}"/>
          </ac:spMkLst>
        </pc:spChg>
        <pc:spChg chg="mod">
          <ac:chgData name="praharshithasamudrala788@gmail.com" userId="28d42a6b8d779fe7" providerId="LiveId" clId="{7655A6C3-01EC-4D17-AC74-9584F6EDBBA0}" dt="2026-10-14T10:15:45.018" v="1316" actId="5793"/>
          <ac:spMkLst>
            <pc:docMk/>
            <pc:sldMk cId="3343058798" sldId="271"/>
            <ac:spMk id="3" creationId="{91E556E1-BA66-7B15-7927-5784F8D66966}"/>
          </ac:spMkLst>
        </pc:spChg>
        <pc:graphicFrameChg chg="add mod modGraphic">
          <ac:chgData name="praharshithasamudrala788@gmail.com" userId="28d42a6b8d779fe7" providerId="LiveId" clId="{7655A6C3-01EC-4D17-AC74-9584F6EDBBA0}" dt="2026-10-14T10:15:30.649" v="1314" actId="14100"/>
          <ac:graphicFrameMkLst>
            <pc:docMk/>
            <pc:sldMk cId="3343058798" sldId="271"/>
            <ac:graphicFrameMk id="4" creationId="{8FA13047-E098-93D5-75F0-8EFDDAFD1B86}"/>
          </ac:graphicFrameMkLst>
        </pc:graphicFrameChg>
      </pc:sldChg>
      <pc:sldChg chg="addSp delSp modSp new mod">
        <pc:chgData name="praharshithasamudrala788@gmail.com" userId="28d42a6b8d779fe7" providerId="LiveId" clId="{7655A6C3-01EC-4D17-AC74-9584F6EDBBA0}" dt="2026-10-14T10:23:19.814" v="1472" actId="20577"/>
        <pc:sldMkLst>
          <pc:docMk/>
          <pc:sldMk cId="3349523799" sldId="272"/>
        </pc:sldMkLst>
        <pc:spChg chg="del">
          <ac:chgData name="praharshithasamudrala788@gmail.com" userId="28d42a6b8d779fe7" providerId="LiveId" clId="{7655A6C3-01EC-4D17-AC74-9584F6EDBBA0}" dt="2026-10-14T10:17:17.295" v="1318" actId="478"/>
          <ac:spMkLst>
            <pc:docMk/>
            <pc:sldMk cId="3349523799" sldId="272"/>
            <ac:spMk id="2" creationId="{7E9E53B8-5AA0-7A33-95D5-E3BE840CB698}"/>
          </ac:spMkLst>
        </pc:spChg>
        <pc:spChg chg="mod">
          <ac:chgData name="praharshithasamudrala788@gmail.com" userId="28d42a6b8d779fe7" providerId="LiveId" clId="{7655A6C3-01EC-4D17-AC74-9584F6EDBBA0}" dt="2026-10-14T10:23:19.814" v="1472" actId="20577"/>
          <ac:spMkLst>
            <pc:docMk/>
            <pc:sldMk cId="3349523799" sldId="272"/>
            <ac:spMk id="3" creationId="{1F1B5F41-4EE0-93AB-EA3E-660E3F365111}"/>
          </ac:spMkLst>
        </pc:spChg>
        <pc:graphicFrameChg chg="add mod modGraphic">
          <ac:chgData name="praharshithasamudrala788@gmail.com" userId="28d42a6b8d779fe7" providerId="LiveId" clId="{7655A6C3-01EC-4D17-AC74-9584F6EDBBA0}" dt="2026-10-14T10:23:11.605" v="1469" actId="14100"/>
          <ac:graphicFrameMkLst>
            <pc:docMk/>
            <pc:sldMk cId="3349523799" sldId="272"/>
            <ac:graphicFrameMk id="4" creationId="{AC532CEB-F11C-8F84-00BD-192C0768510C}"/>
          </ac:graphicFrameMkLst>
        </pc:graphicFrameChg>
      </pc:sldChg>
      <pc:sldChg chg="modSp new mod">
        <pc:chgData name="praharshithasamudrala788@gmail.com" userId="28d42a6b8d779fe7" providerId="LiveId" clId="{7655A6C3-01EC-4D17-AC74-9584F6EDBBA0}" dt="2026-10-14T10:20:42.245" v="1355" actId="20577"/>
        <pc:sldMkLst>
          <pc:docMk/>
          <pc:sldMk cId="2805636348" sldId="273"/>
        </pc:sldMkLst>
        <pc:spChg chg="mod">
          <ac:chgData name="praharshithasamudrala788@gmail.com" userId="28d42a6b8d779fe7" providerId="LiveId" clId="{7655A6C3-01EC-4D17-AC74-9584F6EDBBA0}" dt="2026-10-14T10:20:00.728" v="1340" actId="5793"/>
          <ac:spMkLst>
            <pc:docMk/>
            <pc:sldMk cId="2805636348" sldId="273"/>
            <ac:spMk id="2" creationId="{93E0FB85-AB77-BC47-EAAB-D84810ECEFA3}"/>
          </ac:spMkLst>
        </pc:spChg>
        <pc:spChg chg="mod">
          <ac:chgData name="praharshithasamudrala788@gmail.com" userId="28d42a6b8d779fe7" providerId="LiveId" clId="{7655A6C3-01EC-4D17-AC74-9584F6EDBBA0}" dt="2026-10-14T10:20:42.245" v="1355" actId="20577"/>
          <ac:spMkLst>
            <pc:docMk/>
            <pc:sldMk cId="2805636348" sldId="273"/>
            <ac:spMk id="3" creationId="{9F3962C1-7267-EF8B-D4BE-37F3C2B622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mudrala-praharshitha-a8706436b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amudralaPraharshitha24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1415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b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400" b="1" dirty="0"/>
              <a:t>Cars24 Analysis Using Web Scraping and Data Analysis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40774" y="1101213"/>
            <a:ext cx="10205883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: </a:t>
            </a:r>
            <a:r>
              <a:rPr lang="en-IN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Btech</a:t>
            </a: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Science:</a:t>
            </a:r>
            <a:r>
              <a:rPr lang="en-IN" sz="2400" dirty="0"/>
              <a:t> I want to learn Data Science to develop practical skills and build a career in the IT field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285750" indent="-285750">
              <a:buClr>
                <a:schemeClr val="dk1"/>
              </a:buClr>
              <a:buSzPts val="2400"/>
              <a:buFont typeface="Arial"/>
              <a:buChar char="•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ork experience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: Fresher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https://www.linkedin.com/in/samudrala-praharshitha-a8706436b</a:t>
            </a: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</a:p>
          <a:p>
            <a:pPr marL="285750" indent="-2857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: </a:t>
            </a: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https://github.com/SamudralaPraharshitha24</a:t>
            </a: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540774" y="18250"/>
            <a:ext cx="9910916" cy="72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Table of contents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265471" y="845574"/>
            <a:ext cx="10935009" cy="410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000" b="1" dirty="0"/>
              <a:t>Project Overview</a:t>
            </a:r>
            <a:endParaRPr lang="en-IN" sz="2000" dirty="0"/>
          </a:p>
          <a:p>
            <a:pPr lvl="0"/>
            <a:r>
              <a:rPr lang="en-IN" sz="2000" b="1" dirty="0"/>
              <a:t>Business Scenario</a:t>
            </a:r>
            <a:endParaRPr lang="en-IN" sz="2000" dirty="0"/>
          </a:p>
          <a:p>
            <a:pPr lvl="0"/>
            <a:r>
              <a:rPr lang="en-IN" sz="2000" b="1" dirty="0"/>
              <a:t>Business Objectives</a:t>
            </a:r>
            <a:endParaRPr lang="en-IN" sz="2000" dirty="0"/>
          </a:p>
          <a:p>
            <a:pPr lvl="0"/>
            <a:r>
              <a:rPr lang="en-IN" sz="2000" b="1" dirty="0"/>
              <a:t>Dataset Overview &amp; Data Dictionary</a:t>
            </a:r>
            <a:endParaRPr lang="en-IN" sz="2000" dirty="0"/>
          </a:p>
          <a:p>
            <a:pPr lvl="0"/>
            <a:r>
              <a:rPr lang="en-IN" sz="2000" b="1" dirty="0"/>
              <a:t>Data Collection, Cleaning &amp; Preprocessing</a:t>
            </a:r>
            <a:endParaRPr lang="en-IN" sz="2000" dirty="0"/>
          </a:p>
          <a:p>
            <a:pPr lvl="0"/>
            <a:r>
              <a:rPr lang="en-IN" sz="2000" b="1" dirty="0"/>
              <a:t>Analysis of the Objectives</a:t>
            </a:r>
            <a:endParaRPr lang="en-IN" sz="2000" dirty="0"/>
          </a:p>
          <a:p>
            <a:pPr lvl="0"/>
            <a:r>
              <a:rPr lang="en-IN" sz="2000" b="1" dirty="0"/>
              <a:t>Overall Key Findings</a:t>
            </a:r>
            <a:endParaRPr lang="en-IN" sz="2000" dirty="0"/>
          </a:p>
          <a:p>
            <a:pPr lvl="0"/>
            <a:r>
              <a:rPr lang="en-IN" sz="2000" b="1" dirty="0"/>
              <a:t>Business Recommendations</a:t>
            </a:r>
            <a:endParaRPr lang="en-IN" sz="2000" dirty="0"/>
          </a:p>
          <a:p>
            <a:pPr lvl="0"/>
            <a:r>
              <a:rPr lang="en-IN" sz="2000" b="1" dirty="0"/>
              <a:t>Conclusion</a:t>
            </a:r>
            <a:endParaRPr lang="en-IN" sz="2000" dirty="0"/>
          </a:p>
          <a:p>
            <a:pPr marL="85566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None/>
            </a:pPr>
            <a:endParaRPr sz="326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8B9D2-D2A4-39C4-68BC-EF1BBEE0D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5" y="265472"/>
            <a:ext cx="10940845" cy="415565"/>
          </a:xfrm>
        </p:spPr>
        <p:txBody>
          <a:bodyPr>
            <a:normAutofit fontScale="90000"/>
          </a:bodyPr>
          <a:lstStyle/>
          <a:p>
            <a:pPr marL="114300"/>
            <a:r>
              <a:rPr lang="en-IN" sz="2400" b="1" dirty="0">
                <a:solidFill>
                  <a:srgbClr val="FF0000"/>
                </a:solidFill>
              </a:rPr>
              <a:t> Project Overview</a:t>
            </a:r>
            <a:br>
              <a:rPr lang="en-IN" sz="2400" b="1" dirty="0">
                <a:solidFill>
                  <a:srgbClr val="FF0000"/>
                </a:solidFill>
              </a:rPr>
            </a:b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D683A-E217-C002-CE36-E5A28B5CB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302" y="560440"/>
            <a:ext cx="11078497" cy="5616524"/>
          </a:xfrm>
        </p:spPr>
        <p:txBody>
          <a:bodyPr>
            <a:normAutofit/>
          </a:bodyPr>
          <a:lstStyle/>
          <a:p>
            <a:r>
              <a:rPr lang="en-IN" sz="1600" dirty="0"/>
              <a:t>The project </a:t>
            </a:r>
            <a:r>
              <a:rPr lang="en-IN" sz="1600" b="1" dirty="0"/>
              <a:t>“Cars24 Used Car Analysis Using Web Scraping and Data Analysis”</a:t>
            </a:r>
            <a:r>
              <a:rPr lang="en-IN" sz="1600" dirty="0"/>
              <a:t> focuses on collecting used car listing data from Cars24 and </a:t>
            </a:r>
            <a:r>
              <a:rPr lang="en-IN" sz="1600" dirty="0" err="1"/>
              <a:t>analyzing</a:t>
            </a:r>
            <a:r>
              <a:rPr lang="en-IN" sz="1600" dirty="0"/>
              <a:t> it using Python.</a:t>
            </a:r>
          </a:p>
          <a:p>
            <a:r>
              <a:rPr lang="en-IN" sz="1600" dirty="0"/>
              <a:t>The collected data is cleaned, structured, and explored to understand used car prices, popular brands, vehicle characteristics, and geographical variations across selected Indian cities.</a:t>
            </a:r>
          </a:p>
          <a:p>
            <a:r>
              <a:rPr lang="en-IN" sz="1600" b="1" dirty="0"/>
              <a:t>Key Areas of the Project</a:t>
            </a:r>
            <a:endParaRPr lang="en-IN" sz="1600" dirty="0"/>
          </a:p>
          <a:p>
            <a:pPr lvl="0"/>
            <a:r>
              <a:rPr lang="en-IN" sz="1600" b="1" dirty="0"/>
              <a:t>Data Collection:</a:t>
            </a:r>
            <a:r>
              <a:rPr lang="en-IN" sz="1600" dirty="0"/>
              <a:t> Extract used car listing details using Python web scraping.</a:t>
            </a:r>
          </a:p>
          <a:p>
            <a:pPr lvl="0"/>
            <a:r>
              <a:rPr lang="en-IN" sz="1600" b="1" dirty="0"/>
              <a:t>Data Cleaning:</a:t>
            </a:r>
            <a:r>
              <a:rPr lang="en-IN" sz="1600" dirty="0"/>
              <a:t> Check data quality, remove duplicates if present, and prepare the dataset for analysis.</a:t>
            </a:r>
          </a:p>
          <a:p>
            <a:pPr lvl="0"/>
            <a:r>
              <a:rPr lang="en-IN" sz="1600" b="1" dirty="0"/>
              <a:t>Exploratory Data Analysis:</a:t>
            </a:r>
            <a:r>
              <a:rPr lang="en-IN" sz="1600" dirty="0"/>
              <a:t> Examine prices, brands, fuel types, transmission types, and mileage.</a:t>
            </a:r>
          </a:p>
          <a:p>
            <a:pPr lvl="0"/>
            <a:r>
              <a:rPr lang="en-IN" sz="1600" b="1" dirty="0"/>
              <a:t>Data Visualization:</a:t>
            </a:r>
            <a:r>
              <a:rPr lang="en-IN" sz="1600" dirty="0"/>
              <a:t> Use charts to identify patterns and compare used car listings.</a:t>
            </a:r>
          </a:p>
          <a:p>
            <a:pPr lvl="0"/>
            <a:r>
              <a:rPr lang="en-IN" sz="1600" b="1" dirty="0"/>
              <a:t>Business Insights:</a:t>
            </a:r>
            <a:r>
              <a:rPr lang="en-IN" sz="1600" dirty="0"/>
              <a:t> </a:t>
            </a:r>
            <a:r>
              <a:rPr lang="en-IN" sz="1600" dirty="0" err="1"/>
              <a:t>Analyze</a:t>
            </a:r>
            <a:r>
              <a:rPr lang="en-IN" sz="1600" dirty="0"/>
              <a:t> brand-wise and city-wise price trends to support data-driven decisions.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DA77FC-201E-371E-9D85-8E26BB981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2" y="3894663"/>
            <a:ext cx="5761704" cy="281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67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A5F40-6B86-07BA-1A5B-372FD1AFA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946"/>
          </a:xfrm>
        </p:spPr>
        <p:txBody>
          <a:bodyPr>
            <a:no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BUSINESS SCENARIO</a:t>
            </a:r>
            <a:br>
              <a:rPr lang="en-IN" sz="2000" b="1" dirty="0">
                <a:solidFill>
                  <a:srgbClr val="FF0000"/>
                </a:solidFill>
              </a:rPr>
            </a:b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531F2-C1C2-CCF0-00EB-321912E71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426" y="766916"/>
            <a:ext cx="10675374" cy="5410047"/>
          </a:xfrm>
        </p:spPr>
        <p:txBody>
          <a:bodyPr/>
          <a:lstStyle/>
          <a:p>
            <a:r>
              <a:rPr lang="en-IN" sz="1600" b="1" dirty="0"/>
              <a:t>Key Business Context</a:t>
            </a:r>
          </a:p>
          <a:p>
            <a:pPr lvl="0"/>
            <a:r>
              <a:rPr lang="en-IN" sz="1600" b="1" dirty="0"/>
              <a:t>Large Volume of Data:</a:t>
            </a:r>
            <a:r>
              <a:rPr lang="en-IN" sz="1600" dirty="0"/>
              <a:t> Used-car listings contain multiple vehicle attributes.</a:t>
            </a:r>
          </a:p>
          <a:p>
            <a:pPr lvl="0"/>
            <a:r>
              <a:rPr lang="en-IN" sz="1600" b="1" dirty="0"/>
              <a:t>Dynamic Market:</a:t>
            </a:r>
            <a:r>
              <a:rPr lang="en-IN" sz="1600" dirty="0"/>
              <a:t> Prices vary across brands, models, and locations.</a:t>
            </a:r>
          </a:p>
          <a:p>
            <a:pPr lvl="0"/>
            <a:r>
              <a:rPr lang="en-IN" sz="1600" b="1" dirty="0"/>
              <a:t>Customer Preferences:</a:t>
            </a:r>
            <a:r>
              <a:rPr lang="en-IN" sz="1600" dirty="0"/>
              <a:t> Buyers have different needs regarding price, mileage, fuel type, and transmission.</a:t>
            </a:r>
          </a:p>
          <a:p>
            <a:pPr lvl="0"/>
            <a:r>
              <a:rPr lang="en-IN" sz="1600" b="1" dirty="0"/>
              <a:t>Need for Insights:</a:t>
            </a:r>
            <a:r>
              <a:rPr lang="en-IN" sz="1600" dirty="0"/>
              <a:t> Data analysis can help identify market trends and pricing patterns.</a:t>
            </a:r>
          </a:p>
          <a:p>
            <a:pPr lvl="0"/>
            <a:r>
              <a:rPr lang="en-IN" sz="1600" b="1" dirty="0"/>
              <a:t>Competitive Advantage:</a:t>
            </a:r>
            <a:r>
              <a:rPr lang="en-IN" sz="1600" dirty="0"/>
              <a:t> Better insights can support informed business decisions.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7D153-FDB8-EFBC-BA1F-81B2703E1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129" y="2996173"/>
            <a:ext cx="6213054" cy="349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72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B1865-EA35-452C-83F4-DEC7E719E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633"/>
            <a:ext cx="10515600" cy="599768"/>
          </a:xfrm>
        </p:spPr>
        <p:txBody>
          <a:bodyPr>
            <a:no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Business Objectives </a:t>
            </a:r>
            <a:br>
              <a:rPr lang="en-IN" sz="2000" b="1" dirty="0">
                <a:solidFill>
                  <a:srgbClr val="FF0000"/>
                </a:solidFill>
              </a:rPr>
            </a:b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F6788-C67B-BA41-008D-46FE23AC4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110" y="806245"/>
            <a:ext cx="10832690" cy="5370718"/>
          </a:xfrm>
        </p:spPr>
        <p:txBody>
          <a:bodyPr/>
          <a:lstStyle/>
          <a:p>
            <a:r>
              <a:rPr lang="en-IN" sz="1600" dirty="0"/>
              <a:t>The project aims to transform Cars24 used-car listing data into meaningful information for market analysis.</a:t>
            </a:r>
          </a:p>
          <a:p>
            <a:pPr lvl="0"/>
            <a:r>
              <a:rPr lang="en-IN" sz="1600" dirty="0"/>
              <a:t>Examine the quality and structure of collected data.</a:t>
            </a:r>
          </a:p>
          <a:p>
            <a:pPr lvl="0"/>
            <a:r>
              <a:rPr lang="en-IN" sz="1600" dirty="0"/>
              <a:t>Understand the distribution of used-car prices.</a:t>
            </a:r>
          </a:p>
          <a:p>
            <a:pPr lvl="0"/>
            <a:r>
              <a:rPr lang="en-IN" sz="1600" dirty="0"/>
              <a:t>Explore relationships between vehicle age, mileage, and price.</a:t>
            </a:r>
          </a:p>
          <a:p>
            <a:pPr lvl="0"/>
            <a:r>
              <a:rPr lang="en-IN" sz="1600" dirty="0"/>
              <a:t>Evaluate brand and city-wise listing patterns.</a:t>
            </a:r>
          </a:p>
          <a:p>
            <a:pPr lvl="0"/>
            <a:r>
              <a:rPr lang="en-IN" sz="1600" dirty="0"/>
              <a:t>Identify practical insights from the available sample data.</a:t>
            </a:r>
          </a:p>
          <a:p>
            <a:pPr marL="114300" lvl="0" indent="0">
              <a:buNone/>
            </a:pPr>
            <a:endParaRPr lang="en-IN" sz="1600" dirty="0"/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939A3F-F59A-4981-73D9-307D9099C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671" y="3073267"/>
            <a:ext cx="6165789" cy="34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01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CE16-ECAE-A922-FD0B-D17E128D8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365125"/>
            <a:ext cx="10921181" cy="490281"/>
          </a:xfrm>
        </p:spPr>
        <p:txBody>
          <a:bodyPr>
            <a:noAutofit/>
          </a:bodyPr>
          <a:lstStyle/>
          <a:p>
            <a:r>
              <a:rPr lang="en-IN" sz="1800" b="1" dirty="0">
                <a:solidFill>
                  <a:srgbClr val="FF0000"/>
                </a:solidFill>
              </a:rPr>
              <a:t>DATASET OVERVIEW &amp; DATA DICTIONARY</a:t>
            </a:r>
            <a:br>
              <a:rPr lang="en-IN" sz="1800" b="1" dirty="0">
                <a:solidFill>
                  <a:srgbClr val="FF0000"/>
                </a:solidFill>
              </a:rPr>
            </a:br>
            <a:endParaRPr lang="en-IN" sz="1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54948-75B6-E4CC-31B5-0359DA5C8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619" y="855406"/>
            <a:ext cx="10921181" cy="5321557"/>
          </a:xfrm>
        </p:spPr>
        <p:txBody>
          <a:bodyPr/>
          <a:lstStyle/>
          <a:p>
            <a:r>
              <a:rPr lang="en-IN" sz="1600" b="1" dirty="0"/>
              <a:t>Dataset Overview</a:t>
            </a:r>
          </a:p>
          <a:p>
            <a:pPr lvl="0"/>
            <a:r>
              <a:rPr lang="en-IN" sz="1600" b="1" dirty="0"/>
              <a:t>Data Source:</a:t>
            </a:r>
            <a:r>
              <a:rPr lang="en-IN" sz="1600" dirty="0"/>
              <a:t> Cars24 website</a:t>
            </a:r>
          </a:p>
          <a:p>
            <a:pPr lvl="0"/>
            <a:r>
              <a:rPr lang="en-IN" sz="1600" b="1" dirty="0"/>
              <a:t>Total Listings:</a:t>
            </a:r>
            <a:r>
              <a:rPr lang="en-IN" sz="1600" dirty="0"/>
              <a:t> 20</a:t>
            </a:r>
          </a:p>
          <a:p>
            <a:pPr lvl="0"/>
            <a:r>
              <a:rPr lang="en-IN" sz="1600" b="1" dirty="0"/>
              <a:t>Locations Covered:</a:t>
            </a:r>
            <a:r>
              <a:rPr lang="en-IN" sz="1600" dirty="0"/>
              <a:t> 14</a:t>
            </a:r>
          </a:p>
          <a:p>
            <a:pPr lvl="0"/>
            <a:r>
              <a:rPr lang="en-IN" sz="1600" b="1" dirty="0"/>
              <a:t>Total Columns:</a:t>
            </a:r>
            <a:r>
              <a:rPr lang="en-IN" sz="1600" dirty="0"/>
              <a:t> 14</a:t>
            </a:r>
          </a:p>
          <a:p>
            <a:pPr lvl="0"/>
            <a:r>
              <a:rPr lang="en-IN" sz="1600" b="1" dirty="0"/>
              <a:t>Data Format:</a:t>
            </a:r>
            <a:r>
              <a:rPr lang="en-IN" sz="1600" dirty="0"/>
              <a:t> Structured tabular dataset</a:t>
            </a:r>
          </a:p>
          <a:p>
            <a:pPr lvl="0"/>
            <a:endParaRPr lang="en-IN" sz="1600" dirty="0"/>
          </a:p>
          <a:p>
            <a:pPr marL="114300" lvl="0" indent="0">
              <a:buNone/>
            </a:pP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260C96-77EA-F096-B39C-466400A51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2" y="3020573"/>
            <a:ext cx="6687440" cy="376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51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311CDFD-FBF2-23D0-47E8-31E9EEF61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768739"/>
              </p:ext>
            </p:extLst>
          </p:nvPr>
        </p:nvGraphicFramePr>
        <p:xfrm>
          <a:off x="668594" y="304800"/>
          <a:ext cx="8141110" cy="645566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52247">
                  <a:extLst>
                    <a:ext uri="{9D8B030D-6E8A-4147-A177-3AD203B41FA5}">
                      <a16:colId xmlns:a16="http://schemas.microsoft.com/office/drawing/2014/main" val="4001978122"/>
                    </a:ext>
                  </a:extLst>
                </a:gridCol>
                <a:gridCol w="2152247">
                  <a:extLst>
                    <a:ext uri="{9D8B030D-6E8A-4147-A177-3AD203B41FA5}">
                      <a16:colId xmlns:a16="http://schemas.microsoft.com/office/drawing/2014/main" val="3964197212"/>
                    </a:ext>
                  </a:extLst>
                </a:gridCol>
                <a:gridCol w="3836616">
                  <a:extLst>
                    <a:ext uri="{9D8B030D-6E8A-4147-A177-3AD203B41FA5}">
                      <a16:colId xmlns:a16="http://schemas.microsoft.com/office/drawing/2014/main" val="907124087"/>
                    </a:ext>
                  </a:extLst>
                </a:gridCol>
              </a:tblGrid>
              <a:tr h="26541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>
                          <a:effectLst/>
                        </a:rPr>
                        <a:t>car_name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>
                          <a:effectLst/>
                        </a:rPr>
                        <a:t>location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marL="80518" marR="80518" marT="40259" marB="40259"/>
                </a:tc>
                <a:extLst>
                  <a:ext uri="{0D108BD9-81ED-4DB2-BD59-A6C34878D82A}">
                    <a16:rowId xmlns:a16="http://schemas.microsoft.com/office/drawing/2014/main" val="2390063763"/>
                  </a:ext>
                </a:extLst>
              </a:tr>
              <a:tr h="3040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0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2022 Renault TRIBER RXZ AMT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Kochi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928199980"/>
                  </a:ext>
                </a:extLst>
              </a:tr>
              <a:tr h="3305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1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2018 Honda City 1.5L I-VTEC VX CVT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Pune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3122787395"/>
                  </a:ext>
                </a:extLst>
              </a:tr>
              <a:tr h="3305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dirty="0">
                          <a:effectLst/>
                        </a:rPr>
                        <a:t>2</a:t>
                      </a:r>
                      <a:endParaRPr lang="en-IN" sz="900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2021 Hyundai NEW I20 N LINE N8 1.0 TURBO GDI DCT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Patna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2042308991"/>
                  </a:ext>
                </a:extLst>
              </a:tr>
              <a:tr h="1923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3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2019 Maruti Dzire VXI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Indore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1200971345"/>
                  </a:ext>
                </a:extLst>
              </a:tr>
              <a:tr h="3040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4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2024 Honda Amaze 1.2L I-VTEC VX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Rajkot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2247034412"/>
                  </a:ext>
                </a:extLst>
              </a:tr>
              <a:tr h="3040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5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2015 Hyundai Creta S 1.6 PETROL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Patna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2328259497"/>
                  </a:ext>
                </a:extLst>
              </a:tr>
              <a:tr h="431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dirty="0">
                          <a:effectLst/>
                        </a:rPr>
                        <a:t>6</a:t>
                      </a:r>
                      <a:endParaRPr lang="en-IN" sz="900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2021 MG HECTOR PLUS SHARP 1.5 PETROL TURBO DCT...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dirty="0">
                          <a:effectLst/>
                        </a:rPr>
                        <a:t>Delhi NCR</a:t>
                      </a:r>
                      <a:endParaRPr lang="en-IN" sz="900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4084334872"/>
                  </a:ext>
                </a:extLst>
              </a:tr>
              <a:tr h="3305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7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2021 Hyundai NEW I20 SPORTZ 1.2 AT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Dehradun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2154881023"/>
                  </a:ext>
                </a:extLst>
              </a:tr>
              <a:tr h="3305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8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2023 KIA SELTOS HTK 1.5 DIESEL IMT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dirty="0">
                          <a:effectLst/>
                        </a:rPr>
                        <a:t>Ludhiana</a:t>
                      </a:r>
                      <a:endParaRPr lang="en-IN" sz="900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2781706718"/>
                  </a:ext>
                </a:extLst>
              </a:tr>
              <a:tr h="3305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9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2020 KIA SONET GTX PLUS 1.0 DCT DUAL TONE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Hyderabad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176863125"/>
                  </a:ext>
                </a:extLst>
              </a:tr>
              <a:tr h="3305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10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2025 Tata NEXON CREATIVE PLUS S 1.2 REVOTRON 6 MT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Delhi NCR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3349889952"/>
                  </a:ext>
                </a:extLst>
              </a:tr>
              <a:tr h="3305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11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2018 Hyundai Elite i20 ASTA 1.2 DUAL TONE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Kolkata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1057205312"/>
                  </a:ext>
                </a:extLst>
              </a:tr>
              <a:tr h="3040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12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2025 Renault Kiger RXT (O) AMT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Bangalore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947133481"/>
                  </a:ext>
                </a:extLst>
              </a:tr>
              <a:tr h="3305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13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2017 Hyundai Elite i20 MAGNA EXECUTIVE 1.2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Jaipur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216491250"/>
                  </a:ext>
                </a:extLst>
              </a:tr>
              <a:tr h="3305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14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2019 KIA SELTOS GTX PLUS DCT 1.4 PETROL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Pune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2938191260"/>
                  </a:ext>
                </a:extLst>
              </a:tr>
              <a:tr h="3305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15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2023 KIA SELTOS GTX PLUS 1.5 DIESEL AT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Hyderabad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1379305377"/>
                  </a:ext>
                </a:extLst>
              </a:tr>
              <a:tr h="3305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16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2023 Mahindra XUV700 AX 7 P AT 7 STR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dirty="0">
                          <a:effectLst/>
                        </a:rPr>
                        <a:t>Mumbai</a:t>
                      </a:r>
                      <a:endParaRPr lang="en-IN" sz="900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3871893200"/>
                  </a:ext>
                </a:extLst>
              </a:tr>
              <a:tr h="3305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17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2021 Tata NEXON XZ PLUS PETROL SUNROOF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Bangalore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1828944457"/>
                  </a:ext>
                </a:extLst>
              </a:tr>
              <a:tr h="1923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18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2021 Nissan MAGNITE XE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Delhi NCR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1772442815"/>
                  </a:ext>
                </a:extLst>
              </a:tr>
              <a:tr h="1923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>
                          <a:effectLst/>
                        </a:rPr>
                        <a:t>19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>
                          <a:effectLst/>
                        </a:rPr>
                        <a:t>2019 Datsun Redi Go S 1.0</a:t>
                      </a:r>
                      <a:endParaRPr lang="en-IN" sz="900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dirty="0">
                          <a:effectLst/>
                        </a:rPr>
                        <a:t>Coimbatore</a:t>
                      </a:r>
                      <a:endParaRPr lang="en-IN" sz="900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0259" marR="40259" marT="26839" marB="26839" anchor="ctr"/>
                </a:tc>
                <a:extLst>
                  <a:ext uri="{0D108BD9-81ED-4DB2-BD59-A6C34878D82A}">
                    <a16:rowId xmlns:a16="http://schemas.microsoft.com/office/drawing/2014/main" val="617721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686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4946-644E-E516-50A2-06B118EB8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946"/>
          </a:xfrm>
        </p:spPr>
        <p:txBody>
          <a:bodyPr>
            <a:normAutofit fontScale="90000"/>
          </a:bodyPr>
          <a:lstStyle/>
          <a:p>
            <a:pPr marL="114300"/>
            <a:r>
              <a:rPr lang="en-IN" sz="1600" b="1" dirty="0">
                <a:solidFill>
                  <a:srgbClr val="FF0000"/>
                </a:solidFill>
              </a:rPr>
              <a:t>DATA COLLECTION – WEB SCRAPING</a:t>
            </a:r>
            <a:br>
              <a:rPr lang="en-IN" sz="1600" b="1" dirty="0">
                <a:solidFill>
                  <a:srgbClr val="FF0000"/>
                </a:solidFill>
              </a:rPr>
            </a:b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A2921-69F5-AB12-27B2-6450603E2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426" y="875072"/>
            <a:ext cx="10675374" cy="4100051"/>
          </a:xfrm>
        </p:spPr>
        <p:txBody>
          <a:bodyPr>
            <a:normAutofit/>
          </a:bodyPr>
          <a:lstStyle/>
          <a:p>
            <a:pPr lvl="0"/>
            <a:r>
              <a:rPr lang="en-IN" sz="2000" b="1" dirty="0"/>
              <a:t>Data Source:</a:t>
            </a:r>
            <a:r>
              <a:rPr lang="en-IN" sz="2000" dirty="0"/>
              <a:t> Cars24 website</a:t>
            </a:r>
          </a:p>
          <a:p>
            <a:pPr lvl="0"/>
            <a:r>
              <a:rPr lang="en-IN" sz="2000" b="1" dirty="0"/>
              <a:t>Collection Method:</a:t>
            </a:r>
            <a:r>
              <a:rPr lang="en-IN" sz="2000" dirty="0"/>
              <a:t> Web scraping using Python</a:t>
            </a:r>
          </a:p>
          <a:p>
            <a:pPr lvl="0"/>
            <a:r>
              <a:rPr lang="en-IN" sz="2000" b="1" dirty="0"/>
              <a:t>Data Extracted:</a:t>
            </a:r>
            <a:r>
              <a:rPr lang="en-IN" sz="2000" dirty="0"/>
              <a:t> Car name, brand, model, year, price, mileage, fuel type, transmission, body type, and location</a:t>
            </a:r>
          </a:p>
          <a:p>
            <a:pPr lvl="0"/>
            <a:r>
              <a:rPr lang="en-IN" sz="2000" b="1" dirty="0"/>
              <a:t>Data Storage:</a:t>
            </a:r>
            <a:r>
              <a:rPr lang="en-IN" sz="2000" dirty="0"/>
              <a:t> Structured into a Pandas </a:t>
            </a:r>
            <a:r>
              <a:rPr lang="en-IN" sz="2000" dirty="0" err="1"/>
              <a:t>DataFrame</a:t>
            </a:r>
            <a:r>
              <a:rPr lang="en-IN" sz="2000" dirty="0"/>
              <a:t> for analysis</a:t>
            </a:r>
          </a:p>
          <a:p>
            <a:pPr lvl="0"/>
            <a:r>
              <a:rPr lang="en-IN" sz="2000" b="1" dirty="0"/>
              <a:t>Final Dataset:</a:t>
            </a:r>
            <a:r>
              <a:rPr lang="en-IN" sz="2000" dirty="0"/>
              <a:t> 20 used-car listings with 14 columns</a:t>
            </a:r>
          </a:p>
          <a:p>
            <a:r>
              <a:rPr lang="en-IN" sz="2000" b="1" dirty="0"/>
              <a:t>Outcome:</a:t>
            </a:r>
            <a:r>
              <a:rPr lang="en-IN" sz="2000" dirty="0"/>
              <a:t> A structured dataset prepared for data cleaning, exploratory data analysis,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062308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FFA0E-1A17-25BD-2001-DC35AB48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5" y="365125"/>
            <a:ext cx="10763865" cy="549275"/>
          </a:xfrm>
        </p:spPr>
        <p:txBody>
          <a:bodyPr>
            <a:normAutofit/>
          </a:bodyPr>
          <a:lstStyle/>
          <a:p>
            <a:pPr marL="114300"/>
            <a:r>
              <a:rPr lang="en-IN" sz="1800" b="1" dirty="0">
                <a:solidFill>
                  <a:srgbClr val="FF0000"/>
                </a:solidFill>
              </a:rPr>
              <a:t>DATA CLEANING</a:t>
            </a:r>
            <a:endParaRPr lang="en-IN" sz="1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52E94-D260-72DE-2F9C-4F56F8FD1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48" y="1002890"/>
            <a:ext cx="10881852" cy="5174073"/>
          </a:xfrm>
        </p:spPr>
        <p:txBody>
          <a:bodyPr>
            <a:normAutofit/>
          </a:bodyPr>
          <a:lstStyle/>
          <a:p>
            <a:r>
              <a:rPr lang="en-IN" sz="1800" dirty="0"/>
              <a:t>The collected Cars24 dataset was checked to ensure data quality before analysis.</a:t>
            </a:r>
          </a:p>
          <a:p>
            <a:pPr lvl="0"/>
            <a:r>
              <a:rPr lang="en-IN" sz="1800" b="1" dirty="0"/>
              <a:t>Missing Values:</a:t>
            </a:r>
            <a:r>
              <a:rPr lang="en-IN" sz="1800" dirty="0"/>
              <a:t> No missing values found.</a:t>
            </a:r>
          </a:p>
          <a:p>
            <a:pPr lvl="0"/>
            <a:r>
              <a:rPr lang="en-IN" sz="1800" b="1" dirty="0"/>
              <a:t>Duplicate Records:</a:t>
            </a:r>
            <a:r>
              <a:rPr lang="en-IN" sz="1800" dirty="0"/>
              <a:t> No duplicate rows found.</a:t>
            </a:r>
          </a:p>
          <a:p>
            <a:pPr lvl="0"/>
            <a:r>
              <a:rPr lang="en-IN" sz="1800" b="1" dirty="0"/>
              <a:t>Duplicate Listings:</a:t>
            </a:r>
            <a:r>
              <a:rPr lang="en-IN" sz="1800" dirty="0"/>
              <a:t> No duplicate listing URLs found.</a:t>
            </a:r>
          </a:p>
          <a:p>
            <a:pPr lvl="0"/>
            <a:r>
              <a:rPr lang="en-IN" sz="1800" b="1" dirty="0"/>
              <a:t>Data Structure:</a:t>
            </a:r>
            <a:r>
              <a:rPr lang="en-IN" sz="1800" dirty="0"/>
              <a:t> Verified 20 records and 14 columns.</a:t>
            </a:r>
          </a:p>
          <a:p>
            <a:pPr lvl="0"/>
            <a:r>
              <a:rPr lang="en-IN" sz="1800" b="1" dirty="0"/>
              <a:t>Preparation:</a:t>
            </a:r>
            <a:r>
              <a:rPr lang="en-IN" sz="1800" dirty="0"/>
              <a:t> Organized the dataset for exploratory data analysis and visualization.</a:t>
            </a:r>
          </a:p>
          <a:p>
            <a:r>
              <a:rPr lang="en-IN" sz="1800" b="1" dirty="0"/>
              <a:t>Outcome:</a:t>
            </a:r>
            <a:r>
              <a:rPr lang="en-IN" sz="1800" dirty="0"/>
              <a:t> The dataset was checked and prepared for further analysis</a:t>
            </a:r>
            <a:r>
              <a:rPr lang="en-IN" dirty="0"/>
              <a:t>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197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36B70-7F5D-04A7-BADE-F1B30C617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48"/>
            <a:ext cx="10515600" cy="432620"/>
          </a:xfrm>
        </p:spPr>
        <p:txBody>
          <a:bodyPr>
            <a:normAutofit fontScale="90000"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EXPLORATORY DATA ANALYSIS (EDA)</a:t>
            </a:r>
            <a:br>
              <a:rPr lang="en-IN" sz="2000" b="1" dirty="0">
                <a:solidFill>
                  <a:srgbClr val="FF0000"/>
                </a:solidFill>
              </a:rPr>
            </a:br>
            <a:endParaRPr lang="en-IN" sz="2000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AAB3FA-1595-1762-2930-DC901CF83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695177"/>
              </p:ext>
            </p:extLst>
          </p:nvPr>
        </p:nvGraphicFramePr>
        <p:xfrm>
          <a:off x="838201" y="786581"/>
          <a:ext cx="10515601" cy="42053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8717">
                  <a:extLst>
                    <a:ext uri="{9D8B030D-6E8A-4147-A177-3AD203B41FA5}">
                      <a16:colId xmlns:a16="http://schemas.microsoft.com/office/drawing/2014/main" val="89634756"/>
                    </a:ext>
                  </a:extLst>
                </a:gridCol>
                <a:gridCol w="2198717">
                  <a:extLst>
                    <a:ext uri="{9D8B030D-6E8A-4147-A177-3AD203B41FA5}">
                      <a16:colId xmlns:a16="http://schemas.microsoft.com/office/drawing/2014/main" val="1457279518"/>
                    </a:ext>
                  </a:extLst>
                </a:gridCol>
                <a:gridCol w="2198717">
                  <a:extLst>
                    <a:ext uri="{9D8B030D-6E8A-4147-A177-3AD203B41FA5}">
                      <a16:colId xmlns:a16="http://schemas.microsoft.com/office/drawing/2014/main" val="2998587510"/>
                    </a:ext>
                  </a:extLst>
                </a:gridCol>
                <a:gridCol w="3919450">
                  <a:extLst>
                    <a:ext uri="{9D8B030D-6E8A-4147-A177-3AD203B41FA5}">
                      <a16:colId xmlns:a16="http://schemas.microsoft.com/office/drawing/2014/main" val="489075836"/>
                    </a:ext>
                  </a:extLst>
                </a:gridCol>
              </a:tblGrid>
              <a:tr h="6469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975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year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price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           </a:t>
                      </a:r>
                      <a:r>
                        <a:rPr lang="en-IN" sz="1200" b="1" dirty="0" err="1">
                          <a:solidFill>
                            <a:schemeClr val="tx1"/>
                          </a:solidFill>
                          <a:effectLst/>
                        </a:rPr>
                        <a:t>mileage_km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574979"/>
                  </a:ext>
                </a:extLst>
              </a:tr>
              <a:tr h="44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count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20.000000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2.000000e+01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 dirty="0">
                          <a:effectLst/>
                        </a:rPr>
                        <a:t>20.00000</a:t>
                      </a:r>
                      <a:endParaRPr lang="en-IN" sz="975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84217770"/>
                  </a:ext>
                </a:extLst>
              </a:tr>
              <a:tr h="44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mean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2020.750000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7.671656e+05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47729.70000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720084959"/>
                  </a:ext>
                </a:extLst>
              </a:tr>
              <a:tr h="44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std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2.672964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3.457348e+05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24712.50087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1252179362"/>
                  </a:ext>
                </a:extLst>
              </a:tr>
              <a:tr h="44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min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2015.000000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2.796250e+05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4482.00000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099992683"/>
                  </a:ext>
                </a:extLst>
              </a:tr>
              <a:tr h="44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25%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2019.000000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5.133252e+05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29666.25000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1217571567"/>
                  </a:ext>
                </a:extLst>
              </a:tr>
              <a:tr h="44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50%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2021.000000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7.336970e+05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45887.50000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560343802"/>
                  </a:ext>
                </a:extLst>
              </a:tr>
              <a:tr h="44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75%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2023.000000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9.217118e+05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68014.75000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800335468"/>
                  </a:ext>
                </a:extLst>
              </a:tr>
              <a:tr h="444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max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 dirty="0">
                          <a:effectLst/>
                        </a:rPr>
                        <a:t>2025.000000</a:t>
                      </a:r>
                      <a:endParaRPr lang="en-IN" sz="975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1.622028e+06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 dirty="0">
                          <a:effectLst/>
                        </a:rPr>
                        <a:t>86039.00000</a:t>
                      </a:r>
                      <a:endParaRPr lang="en-IN" sz="975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1375992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040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2524-60B5-472A-81EB-1739ED04F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40" y="344129"/>
            <a:ext cx="10068232" cy="336909"/>
          </a:xfrm>
        </p:spPr>
        <p:txBody>
          <a:bodyPr>
            <a:noAutofit/>
          </a:bodyPr>
          <a:lstStyle/>
          <a:p>
            <a:r>
              <a:rPr lang="en-IN" sz="1800" b="1" dirty="0">
                <a:solidFill>
                  <a:srgbClr val="FF0000"/>
                </a:solidFill>
              </a:rPr>
              <a:t>DATA VISUALIZATION</a:t>
            </a:r>
            <a:br>
              <a:rPr lang="en-IN" sz="1800" b="1" dirty="0">
                <a:solidFill>
                  <a:srgbClr val="FF0000"/>
                </a:solidFill>
              </a:rPr>
            </a:br>
            <a:endParaRPr lang="en-IN" sz="1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4DE91-CA98-8A80-80B4-45C3A568B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265" y="766916"/>
            <a:ext cx="10724535" cy="5410047"/>
          </a:xfrm>
        </p:spPr>
        <p:txBody>
          <a:bodyPr>
            <a:normAutofit/>
          </a:bodyPr>
          <a:lstStyle/>
          <a:p>
            <a:r>
              <a:rPr lang="en-IN" sz="1900" dirty="0"/>
              <a:t>Python visualization libraries were used to represent patterns in the collected used-car data.</a:t>
            </a:r>
          </a:p>
          <a:p>
            <a:r>
              <a:rPr lang="en-IN" sz="1900" b="1" dirty="0"/>
              <a:t>Charts Created</a:t>
            </a:r>
            <a:endParaRPr lang="en-IN" sz="1900" dirty="0"/>
          </a:p>
          <a:p>
            <a:pPr lvl="0"/>
            <a:r>
              <a:rPr lang="en-IN" sz="1900" dirty="0"/>
              <a:t>Car Price Distribution — Histogram</a:t>
            </a:r>
          </a:p>
          <a:p>
            <a:pPr lvl="0"/>
            <a:r>
              <a:rPr lang="en-IN" sz="1900" dirty="0"/>
              <a:t>Manufacturing Year vs. Price — Scatter Plot</a:t>
            </a:r>
          </a:p>
          <a:p>
            <a:pPr lvl="0"/>
            <a:r>
              <a:rPr lang="en-IN" sz="1900" dirty="0"/>
              <a:t>Mileage vs. Price — Scatter Plot</a:t>
            </a:r>
          </a:p>
          <a:p>
            <a:pPr lvl="0"/>
            <a:r>
              <a:rPr lang="en-IN" sz="1900" dirty="0"/>
              <a:t>Number of Cars by Fuel Type — Count Plot</a:t>
            </a:r>
          </a:p>
          <a:p>
            <a:pPr lvl="0"/>
            <a:r>
              <a:rPr lang="en-IN" sz="1900" dirty="0"/>
              <a:t>Number of Cars by Body Type — Count Plot</a:t>
            </a:r>
          </a:p>
          <a:p>
            <a:pPr lvl="0"/>
            <a:r>
              <a:rPr lang="en-IN" sz="1900" dirty="0"/>
              <a:t>Average Used-Car Price by City — Horizontal Bar Chart</a:t>
            </a:r>
          </a:p>
          <a:p>
            <a:pPr lvl="0"/>
            <a:r>
              <a:rPr lang="en-IN" sz="1900" dirty="0"/>
              <a:t>Correlation Analysis — Heatmap</a:t>
            </a:r>
          </a:p>
          <a:p>
            <a:r>
              <a:rPr lang="en-IN" sz="1900" b="1" dirty="0"/>
              <a:t>Libraries:</a:t>
            </a:r>
            <a:r>
              <a:rPr lang="en-IN" sz="1900" dirty="0"/>
              <a:t> Matplotlib and Seaborn</a:t>
            </a:r>
          </a:p>
          <a:p>
            <a:r>
              <a:rPr lang="en-IN" sz="1900" b="1" dirty="0"/>
              <a:t>Purpose:</a:t>
            </a:r>
            <a:r>
              <a:rPr lang="en-IN" sz="1900" dirty="0"/>
              <a:t> To make price patterns, vehicle characteristics, and city-wise differences easier to understand.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454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99B8-20D4-8038-8140-092B38D38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826" y="2265456"/>
            <a:ext cx="12113342" cy="1244659"/>
          </a:xfrm>
        </p:spPr>
        <p:txBody>
          <a:bodyPr>
            <a:normAutofit fontScale="90000"/>
          </a:bodyPr>
          <a:lstStyle/>
          <a:p>
            <a:pPr marL="114300"/>
            <a:r>
              <a:rPr lang="en-IN" sz="2000" dirty="0"/>
              <a:t>Car Price Distribution — Histogram    Manufacturing Year vs. Price — Scatter Plot         Number of Cars by Body Type-Count Plot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 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E1CE6CF-9A25-029D-E5A1-FC4124F40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639" y="3057832"/>
            <a:ext cx="11091811" cy="3503109"/>
          </a:xfrm>
        </p:spPr>
        <p:txBody>
          <a:bodyPr/>
          <a:lstStyle/>
          <a:p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Mileage vs. Price — Scatter Plot      Number of Cars by Fuel Type — Count Plot           Correlation Analysis Heatmap</a:t>
            </a:r>
          </a:p>
          <a:p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E0FF6F-7BCE-F65A-6D2F-31A5FF999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4" y="76827"/>
            <a:ext cx="3251735" cy="22872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F24ECD-695D-062C-C897-AA0DAE62D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988" y="56960"/>
            <a:ext cx="3497617" cy="23586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A430E7-314B-125F-C928-662DF619A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527" y="3658047"/>
            <a:ext cx="3668541" cy="22091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71FBAB-0325-EB99-C6B0-159331C565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800" y="3658046"/>
            <a:ext cx="3419515" cy="23026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04FCFA-2D73-0D63-5D3D-9E9167CE1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108" y="56960"/>
            <a:ext cx="3497616" cy="23586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43B1B2-0DCA-DCD0-CF5C-62C1093E44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4914" y="3637934"/>
            <a:ext cx="3471558" cy="23227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51809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89D5F3-CBF1-C85D-98D9-6286D1E42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3" y="167148"/>
            <a:ext cx="10862187" cy="619433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5A6217-EA86-3D59-3D9A-3577A8385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787" y="786581"/>
            <a:ext cx="10931013" cy="5390382"/>
          </a:xfrm>
        </p:spPr>
        <p:txBody>
          <a:bodyPr/>
          <a:lstStyle/>
          <a:p>
            <a:pPr marL="114300" indent="0">
              <a:buNone/>
            </a:pPr>
            <a:r>
              <a:rPr lang="en-IN" sz="1800" b="1" dirty="0"/>
              <a:t>BRAND-WISE USED CAR ANALYSIS</a:t>
            </a:r>
          </a:p>
          <a:p>
            <a:pPr lvl="0"/>
            <a:r>
              <a:rPr lang="en-IN" sz="1600" b="1" dirty="0"/>
              <a:t>Total Brands:</a:t>
            </a:r>
            <a:r>
              <a:rPr lang="en-IN" sz="1600" dirty="0"/>
              <a:t> 10</a:t>
            </a:r>
          </a:p>
          <a:p>
            <a:pPr lvl="0"/>
            <a:r>
              <a:rPr lang="en-IN" sz="1600" b="1" dirty="0"/>
              <a:t>Top Brand:</a:t>
            </a:r>
            <a:r>
              <a:rPr lang="en-IN" sz="1600" dirty="0"/>
              <a:t> Hyundai — 5 listings</a:t>
            </a:r>
          </a:p>
          <a:p>
            <a:pPr lvl="0"/>
            <a:r>
              <a:rPr lang="en-IN" sz="1600" b="1" dirty="0"/>
              <a:t>Second Highest:</a:t>
            </a:r>
            <a:r>
              <a:rPr lang="en-IN" sz="1600" dirty="0"/>
              <a:t> KIA — 4 listings</a:t>
            </a:r>
          </a:p>
          <a:p>
            <a:pPr lvl="0"/>
            <a:r>
              <a:rPr lang="en-IN" sz="1600" b="1" dirty="0"/>
              <a:t>Other Brands:</a:t>
            </a:r>
            <a:r>
              <a:rPr lang="en-IN" sz="1600" dirty="0"/>
              <a:t> Tata, Honda, Renault, Mahindra, MG, Maruti, Nissan, and Datsun</a:t>
            </a:r>
          </a:p>
          <a:p>
            <a:r>
              <a:rPr lang="en-IN" sz="1600" b="1" dirty="0"/>
              <a:t>Key Finding:</a:t>
            </a:r>
            <a:r>
              <a:rPr lang="en-IN" sz="1600" dirty="0"/>
              <a:t> Hyundai and KIA together represent 9 out of the 20 collected listings.</a:t>
            </a:r>
          </a:p>
          <a:p>
            <a:r>
              <a:rPr lang="en-IN" sz="1600" b="1" dirty="0"/>
              <a:t>Analysis Objective:</a:t>
            </a:r>
            <a:r>
              <a:rPr lang="en-IN" sz="1600" dirty="0"/>
              <a:t> Understand which brands appear most frequently in the collected Cars24 listings.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360DC2-E404-B339-F285-C09E05F8B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418581"/>
              </p:ext>
            </p:extLst>
          </p:nvPr>
        </p:nvGraphicFramePr>
        <p:xfrm>
          <a:off x="749710" y="3481772"/>
          <a:ext cx="10515599" cy="2811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9968">
                  <a:extLst>
                    <a:ext uri="{9D8B030D-6E8A-4147-A177-3AD203B41FA5}">
                      <a16:colId xmlns:a16="http://schemas.microsoft.com/office/drawing/2014/main" val="3313310103"/>
                    </a:ext>
                  </a:extLst>
                </a:gridCol>
                <a:gridCol w="2197464">
                  <a:extLst>
                    <a:ext uri="{9D8B030D-6E8A-4147-A177-3AD203B41FA5}">
                      <a16:colId xmlns:a16="http://schemas.microsoft.com/office/drawing/2014/main" val="2931261568"/>
                    </a:ext>
                  </a:extLst>
                </a:gridCol>
                <a:gridCol w="2217220">
                  <a:extLst>
                    <a:ext uri="{9D8B030D-6E8A-4147-A177-3AD203B41FA5}">
                      <a16:colId xmlns:a16="http://schemas.microsoft.com/office/drawing/2014/main" val="779088219"/>
                    </a:ext>
                  </a:extLst>
                </a:gridCol>
                <a:gridCol w="3900947">
                  <a:extLst>
                    <a:ext uri="{9D8B030D-6E8A-4147-A177-3AD203B41FA5}">
                      <a16:colId xmlns:a16="http://schemas.microsoft.com/office/drawing/2014/main" val="3490100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975" b="1" dirty="0">
                          <a:effectLst/>
                        </a:rPr>
                        <a:t>brand</a:t>
                      </a:r>
                      <a:endParaRPr lang="en-IN" sz="975" b="1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  <a:p>
                      <a:pPr algn="ctr">
                        <a:buNone/>
                      </a:pPr>
                      <a:br>
                        <a:rPr lang="en-IN" sz="975" b="1" dirty="0">
                          <a:effectLst/>
                        </a:rPr>
                      </a:br>
                      <a:endParaRPr lang="en-IN" sz="975" b="1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75" b="1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Count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75" b="1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mean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000" b="1" dirty="0">
                          <a:effectLst/>
                        </a:rPr>
                        <a:t>median</a:t>
                      </a:r>
                      <a:endParaRPr lang="en-IN" sz="1000" b="1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972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975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2365584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Mahindra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1622028.00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1622028.0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513306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MG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1088682.00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1088682.0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4067724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KIA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4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1055641.25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969908.0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575395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Tata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850985.00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850985.0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922462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Honda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699239.00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699239.0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10178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Renault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693306.50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693306.5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2367056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Hyundai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534143.60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514634.0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53444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Maruti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509399.00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509399.0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1620358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Nissan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463234.00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463234.0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033624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Datsun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279625.00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 dirty="0">
                          <a:effectLst/>
                        </a:rPr>
                        <a:t>279625.0</a:t>
                      </a:r>
                      <a:endParaRPr lang="en-IN" sz="975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144817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518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556E1-BA66-7B15-7927-5784F8D66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5471" y="88490"/>
            <a:ext cx="11088329" cy="6489291"/>
          </a:xfrm>
        </p:spPr>
        <p:txBody>
          <a:bodyPr>
            <a:normAutofit/>
          </a:bodyPr>
          <a:lstStyle/>
          <a:p>
            <a:r>
              <a:rPr lang="en-IN" sz="1900" b="1" dirty="0"/>
              <a:t>AREA-WISE USED CAR ANALYSIS</a:t>
            </a:r>
          </a:p>
          <a:p>
            <a:r>
              <a:rPr lang="en-IN" sz="1400" dirty="0"/>
              <a:t>The collected Cars24 listings were </a:t>
            </a:r>
            <a:r>
              <a:rPr lang="en-IN" sz="1400" dirty="0" err="1"/>
              <a:t>analyzed</a:t>
            </a:r>
            <a:r>
              <a:rPr lang="en-IN" sz="1400" dirty="0"/>
              <a:t> across different Indian locations to understand geographical differences in used-car prices.</a:t>
            </a:r>
          </a:p>
          <a:p>
            <a:pPr lvl="0"/>
            <a:r>
              <a:rPr lang="en-IN" sz="1400" b="1" dirty="0"/>
              <a:t>Locations Covered:</a:t>
            </a:r>
            <a:r>
              <a:rPr lang="en-IN" sz="1400" dirty="0"/>
              <a:t> 14</a:t>
            </a:r>
          </a:p>
          <a:p>
            <a:pPr lvl="0"/>
            <a:r>
              <a:rPr lang="en-IN" sz="1400" b="1" dirty="0"/>
              <a:t>Total Listings:</a:t>
            </a:r>
            <a:r>
              <a:rPr lang="en-IN" sz="1400" dirty="0"/>
              <a:t> 20</a:t>
            </a:r>
          </a:p>
          <a:p>
            <a:pPr lvl="0"/>
            <a:r>
              <a:rPr lang="en-IN" sz="1400" b="1" dirty="0"/>
              <a:t>Analysis Focus:</a:t>
            </a:r>
            <a:r>
              <a:rPr lang="en-IN" sz="1400" dirty="0"/>
              <a:t> Compare average used-car prices across selected locations.</a:t>
            </a:r>
          </a:p>
          <a:p>
            <a:pPr lvl="0"/>
            <a:r>
              <a:rPr lang="en-IN" sz="1400" b="1" dirty="0"/>
              <a:t>Purpose:</a:t>
            </a:r>
            <a:r>
              <a:rPr lang="en-IN" sz="1400" dirty="0"/>
              <a:t> Identify locations with relatively higher or lower average listing prices.</a:t>
            </a:r>
          </a:p>
          <a:p>
            <a:r>
              <a:rPr lang="en-IN" sz="1400" b="1" dirty="0"/>
              <a:t>Key Observation:</a:t>
            </a:r>
            <a:r>
              <a:rPr lang="en-IN" sz="1400" dirty="0"/>
              <a:t> The dataset covers multiple locations, but each location has only a small number of listings. Therefore, the results represent the collected sample rather than the overall used-car market in each city.</a:t>
            </a:r>
          </a:p>
          <a:p>
            <a:r>
              <a:rPr lang="en-IN" sz="1400" b="1" dirty="0"/>
              <a:t>Visualization:</a:t>
            </a:r>
            <a:r>
              <a:rPr lang="en-IN" sz="1400" dirty="0"/>
              <a:t> Insert your existing horizontal bar chart showing average used-car prices by city.</a:t>
            </a:r>
          </a:p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A13047-E098-93D5-75F0-8EFDDAFD1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779254"/>
              </p:ext>
            </p:extLst>
          </p:nvPr>
        </p:nvGraphicFramePr>
        <p:xfrm>
          <a:off x="2281084" y="2962580"/>
          <a:ext cx="6705600" cy="3448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358015865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3444312134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3498991283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3169796243"/>
                    </a:ext>
                  </a:extLst>
                </a:gridCol>
              </a:tblGrid>
              <a:tr h="2242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75">
                          <a:effectLst/>
                        </a:rPr>
                        <a:t>count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75">
                          <a:effectLst/>
                        </a:rPr>
                        <a:t>mean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75">
                          <a:effectLst/>
                        </a:rPr>
                        <a:t>median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842623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75">
                          <a:effectLst/>
                        </a:rPr>
                        <a:t>location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2295912004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Delhi NCR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3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821311.0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912017.0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4113695425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Bangalore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777927.5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777927.5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428328498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Hyderabad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1141374.5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1141374.5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4146737510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Patna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636554.0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636554.0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860416406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Pune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829858.0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829858.0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4015831532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Coimbatore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279625.0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279625.0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1229150141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Dehradun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607526.0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607526.0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018802861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Indore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509399.0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509399.0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754224052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Jaipur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403007.0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403007.0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485180274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Kochi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620711.0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620711.0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511393148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Kolkata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387077.0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387077.0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1462793659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Ludhiana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989020.0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989020.0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2475116215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Mumbai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1622028.0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1622028.0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434514539"/>
                  </a:ext>
                </a:extLst>
              </a:tr>
              <a:tr h="154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Rajkot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689558.0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 dirty="0">
                          <a:effectLst/>
                        </a:rPr>
                        <a:t>689558.0</a:t>
                      </a:r>
                      <a:endParaRPr lang="en-IN" sz="975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434679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058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B5F41-4EE0-93AB-EA3E-660E3F365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277" y="255639"/>
            <a:ext cx="10842523" cy="592132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b="1" dirty="0">
                <a:solidFill>
                  <a:srgbClr val="FF0000"/>
                </a:solidFill>
              </a:rPr>
              <a:t>BUSINESS RECOMMENDATIONS</a:t>
            </a:r>
          </a:p>
          <a:p>
            <a:r>
              <a:rPr lang="en-IN" sz="1700" dirty="0"/>
              <a:t>Based on the analysis of the collected Cars24 listings, the following recommendations can be considered:</a:t>
            </a:r>
          </a:p>
          <a:p>
            <a:pPr lvl="0"/>
            <a:r>
              <a:rPr lang="en-IN" sz="1700" b="1" dirty="0"/>
              <a:t>Pricing Strategy:</a:t>
            </a:r>
            <a:r>
              <a:rPr lang="en-IN" sz="1700" dirty="0"/>
              <a:t> Use brand, model year, and mileage to support price comparisons.</a:t>
            </a:r>
          </a:p>
          <a:p>
            <a:pPr lvl="0"/>
            <a:r>
              <a:rPr lang="en-IN" sz="1700" b="1" dirty="0"/>
              <a:t>Brand Analysis:</a:t>
            </a:r>
            <a:r>
              <a:rPr lang="en-IN" sz="1700" dirty="0"/>
              <a:t> Monitor frequently listed brands such as Hyundai and KIA.</a:t>
            </a:r>
          </a:p>
          <a:p>
            <a:pPr lvl="0"/>
            <a:r>
              <a:rPr lang="en-IN" sz="1700" b="1" dirty="0"/>
              <a:t>Customer Preferences:</a:t>
            </a:r>
            <a:r>
              <a:rPr lang="en-IN" sz="1700" dirty="0"/>
              <a:t> Study the distribution of fuel types and body types to understand patterns in the sample.</a:t>
            </a:r>
          </a:p>
          <a:p>
            <a:pPr lvl="0"/>
            <a:r>
              <a:rPr lang="en-IN" sz="1700" b="1" dirty="0"/>
              <a:t>Location-Based Analysis:</a:t>
            </a:r>
            <a:r>
              <a:rPr lang="en-IN" sz="1700" dirty="0"/>
              <a:t> Compare average listing prices across cities when evaluating regional differences.</a:t>
            </a:r>
          </a:p>
          <a:p>
            <a:pPr lvl="0"/>
            <a:r>
              <a:rPr lang="en-IN" sz="1700" b="1" dirty="0"/>
              <a:t>Data Expansion:</a:t>
            </a:r>
            <a:r>
              <a:rPr lang="en-IN" sz="1700" dirty="0"/>
              <a:t> Collect more listings from each location to improve the reliability of future analysis.</a:t>
            </a:r>
          </a:p>
          <a:p>
            <a:r>
              <a:rPr lang="en-IN" sz="1700" b="1" dirty="0"/>
              <a:t>Expected Benefit:</a:t>
            </a:r>
            <a:r>
              <a:rPr lang="en-IN" sz="1700" dirty="0"/>
              <a:t> These insights can support better understanding of used-car listings and help guide further market analysis.</a:t>
            </a:r>
          </a:p>
          <a:p>
            <a:r>
              <a:rPr lang="en-IN" sz="1800" b="1" dirty="0"/>
              <a:t>Key business metrics                                                </a:t>
            </a:r>
            <a:r>
              <a:rPr lang="en-US" sz="1800" b="1" dirty="0"/>
              <a:t>Compare average price by fuel type</a:t>
            </a:r>
            <a:endParaRPr lang="en-IN" sz="1800" b="1" dirty="0"/>
          </a:p>
          <a:p>
            <a:r>
              <a:rPr lang="en-IN" sz="1600" dirty="0"/>
              <a:t>Average Price: 767165.6</a:t>
            </a:r>
          </a:p>
          <a:p>
            <a:r>
              <a:rPr lang="en-IN" sz="1600" dirty="0"/>
              <a:t>Median Price: 733697.0</a:t>
            </a:r>
          </a:p>
          <a:p>
            <a:r>
              <a:rPr lang="en-IN" sz="1600" dirty="0"/>
              <a:t>Average Mileage: 47729.7</a:t>
            </a:r>
          </a:p>
          <a:p>
            <a:r>
              <a:rPr lang="en-IN" sz="1600" dirty="0"/>
              <a:t>Total Listings: 20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532CEB-F11C-8F84-00BD-192C07685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537332"/>
              </p:ext>
            </p:extLst>
          </p:nvPr>
        </p:nvGraphicFramePr>
        <p:xfrm>
          <a:off x="5417574" y="3942735"/>
          <a:ext cx="5043950" cy="19403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4644">
                  <a:extLst>
                    <a:ext uri="{9D8B030D-6E8A-4147-A177-3AD203B41FA5}">
                      <a16:colId xmlns:a16="http://schemas.microsoft.com/office/drawing/2014/main" val="2117627129"/>
                    </a:ext>
                  </a:extLst>
                </a:gridCol>
                <a:gridCol w="1054644">
                  <a:extLst>
                    <a:ext uri="{9D8B030D-6E8A-4147-A177-3AD203B41FA5}">
                      <a16:colId xmlns:a16="http://schemas.microsoft.com/office/drawing/2014/main" val="2734798373"/>
                    </a:ext>
                  </a:extLst>
                </a:gridCol>
                <a:gridCol w="1054644">
                  <a:extLst>
                    <a:ext uri="{9D8B030D-6E8A-4147-A177-3AD203B41FA5}">
                      <a16:colId xmlns:a16="http://schemas.microsoft.com/office/drawing/2014/main" val="2309780118"/>
                    </a:ext>
                  </a:extLst>
                </a:gridCol>
                <a:gridCol w="1880018">
                  <a:extLst>
                    <a:ext uri="{9D8B030D-6E8A-4147-A177-3AD203B41FA5}">
                      <a16:colId xmlns:a16="http://schemas.microsoft.com/office/drawing/2014/main" val="3938047920"/>
                    </a:ext>
                  </a:extLst>
                </a:gridCol>
              </a:tblGrid>
              <a:tr h="3372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75">
                          <a:effectLst/>
                        </a:rPr>
                        <a:t>count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75">
                          <a:effectLst/>
                        </a:rPr>
                        <a:t>mean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75">
                          <a:effectLst/>
                        </a:rPr>
                        <a:t>median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949052"/>
                  </a:ext>
                </a:extLst>
              </a:tr>
              <a:tr h="4007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75">
                          <a:effectLst/>
                        </a:rPr>
                        <a:t>fuel_type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1323127473"/>
                  </a:ext>
                </a:extLst>
              </a:tr>
              <a:tr h="400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CNG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1088682.00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1088682.0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1311041023"/>
                  </a:ext>
                </a:extLst>
              </a:tr>
              <a:tr h="400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Diesel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2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1245009.50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1245009.5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258873296"/>
                  </a:ext>
                </a:extLst>
              </a:tr>
              <a:tr h="400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75">
                          <a:effectLst/>
                        </a:rPr>
                        <a:t>Petrol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17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>
                          <a:effectLst/>
                        </a:rPr>
                        <a:t>692035.94</a:t>
                      </a:r>
                      <a:endParaRPr lang="en-IN" sz="975" b="0" i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75" dirty="0">
                          <a:effectLst/>
                        </a:rPr>
                        <a:t>689558.0</a:t>
                      </a:r>
                      <a:endParaRPr lang="en-IN" sz="975" b="0" i="0" dirty="0">
                        <a:solidFill>
                          <a:srgbClr val="FFFFFF"/>
                        </a:solidFill>
                        <a:effectLst/>
                        <a:latin typeface="-apple-system"/>
                      </a:endParaRP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717058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523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0FB85-AB77-BC47-EAAB-D84810ECE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365125"/>
            <a:ext cx="10960510" cy="549275"/>
          </a:xfrm>
        </p:spPr>
        <p:txBody>
          <a:bodyPr>
            <a:normAutofit fontScale="90000"/>
          </a:bodyPr>
          <a:lstStyle/>
          <a:p>
            <a:pPr marL="114300"/>
            <a:r>
              <a:rPr lang="en-IN" sz="2000" b="1" dirty="0">
                <a:solidFill>
                  <a:srgbClr val="FF0000"/>
                </a:solidFill>
              </a:rPr>
              <a:t>CONCLUSION</a:t>
            </a:r>
            <a:br>
              <a:rPr lang="en-IN" sz="2000" b="1" dirty="0">
                <a:solidFill>
                  <a:srgbClr val="FF0000"/>
                </a:solidFill>
              </a:rPr>
            </a:b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962C1-7267-EF8B-D4BE-37F3C2B62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606" y="796413"/>
            <a:ext cx="10803194" cy="5380550"/>
          </a:xfrm>
        </p:spPr>
        <p:txBody>
          <a:bodyPr>
            <a:normAutofit/>
          </a:bodyPr>
          <a:lstStyle/>
          <a:p>
            <a:r>
              <a:rPr lang="en-IN" sz="1800" dirty="0"/>
              <a:t>This project </a:t>
            </a:r>
            <a:r>
              <a:rPr lang="en-IN" sz="1800" dirty="0" err="1"/>
              <a:t>analyzed</a:t>
            </a:r>
            <a:r>
              <a:rPr lang="en-IN" sz="1800" dirty="0"/>
              <a:t> used-car listings collected from Cars24 using web scraping and Python-based data analysis.</a:t>
            </a:r>
          </a:p>
          <a:p>
            <a:pPr lvl="0"/>
            <a:r>
              <a:rPr lang="en-IN" sz="1800" dirty="0"/>
              <a:t>Collected and </a:t>
            </a:r>
            <a:r>
              <a:rPr lang="en-IN" sz="1800" dirty="0" err="1"/>
              <a:t>analyzed</a:t>
            </a:r>
            <a:r>
              <a:rPr lang="en-IN" sz="1800" dirty="0"/>
              <a:t> </a:t>
            </a:r>
            <a:r>
              <a:rPr lang="en-IN" sz="1800" b="1" dirty="0"/>
              <a:t>20 used-car listings across 14 locations</a:t>
            </a:r>
            <a:r>
              <a:rPr lang="en-IN" sz="1800" dirty="0"/>
              <a:t>.</a:t>
            </a:r>
          </a:p>
          <a:p>
            <a:pPr lvl="0"/>
            <a:r>
              <a:rPr lang="en-IN" sz="1800" dirty="0"/>
              <a:t>Examined pricing patterns, vehicle characteristics, fuel types, transmission types, and body types.</a:t>
            </a:r>
          </a:p>
          <a:p>
            <a:pPr lvl="0"/>
            <a:r>
              <a:rPr lang="en-IN" sz="1800" dirty="0"/>
              <a:t>Identified Hyundai as the most represented brand in the collected dataset.</a:t>
            </a:r>
          </a:p>
          <a:p>
            <a:pPr lvl="0"/>
            <a:r>
              <a:rPr lang="en-IN" sz="1800" dirty="0"/>
              <a:t>Explored brand-wise and location-wise listing patterns through data visualization.</a:t>
            </a:r>
          </a:p>
          <a:p>
            <a:pPr lvl="0"/>
            <a:r>
              <a:rPr lang="en-IN" sz="1800" dirty="0"/>
              <a:t>Derived practical recommendations for pricing comparisons and further market analysis.</a:t>
            </a:r>
          </a:p>
          <a:p>
            <a:pPr marL="114300" lvl="0" indent="0">
              <a:buNone/>
            </a:pPr>
            <a:endParaRPr lang="en-IN" sz="1800" dirty="0"/>
          </a:p>
          <a:p>
            <a:r>
              <a:rPr lang="en-IN" sz="1800" b="1" dirty="0"/>
              <a:t>Final Outcome:</a:t>
            </a:r>
            <a:r>
              <a:rPr lang="en-IN" sz="1800" dirty="0"/>
              <a:t> The project demonstrates how web scraping, data cleaning, exploratory data analysis, and visualization can transform raw used-car listing data into meaningful insights.</a:t>
            </a:r>
          </a:p>
        </p:txBody>
      </p:sp>
    </p:spTree>
    <p:extLst>
      <p:ext uri="{BB962C8B-B14F-4D97-AF65-F5344CB8AC3E}">
        <p14:creationId xmlns:p14="http://schemas.microsoft.com/office/powerpoint/2010/main" val="2805636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1515</Words>
  <Application>Microsoft Office PowerPoint</Application>
  <PresentationFormat>Widescreen</PresentationFormat>
  <Paragraphs>341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-apple-system</vt:lpstr>
      <vt:lpstr>Calibri</vt:lpstr>
      <vt:lpstr>Times New Roman</vt:lpstr>
      <vt:lpstr>Arial</vt:lpstr>
      <vt:lpstr>Lato Black</vt:lpstr>
      <vt:lpstr>Libre Baskerville</vt:lpstr>
      <vt:lpstr>Office Theme</vt:lpstr>
      <vt:lpstr>PowerPoint Presentation</vt:lpstr>
      <vt:lpstr>PowerPoint Presentation</vt:lpstr>
      <vt:lpstr>Table of contents </vt:lpstr>
      <vt:lpstr> Project Overview </vt:lpstr>
      <vt:lpstr>BUSINESS SCENARIO </vt:lpstr>
      <vt:lpstr>Business Objectives  </vt:lpstr>
      <vt:lpstr>DATASET OVERVIEW &amp; DATA DICTIONARY </vt:lpstr>
      <vt:lpstr>PowerPoint Presentation</vt:lpstr>
      <vt:lpstr>DATA COLLECTION – WEB SCRAPING </vt:lpstr>
      <vt:lpstr>DATA CLEANING</vt:lpstr>
      <vt:lpstr>EXPLORATORY DATA ANALYSIS (EDA) </vt:lpstr>
      <vt:lpstr>DATA VISUALIZATION </vt:lpstr>
      <vt:lpstr>Car Price Distribution — Histogram    Manufacturing Year vs. Price — Scatter Plot         Number of Cars by Body Type-Count Plot    </vt:lpstr>
      <vt:lpstr>Problem Statement</vt:lpstr>
      <vt:lpstr>PowerPoint Presentation</vt:lpstr>
      <vt:lpstr>PowerPoint Presentation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praharshithasamudrala788@gmail.com</cp:lastModifiedBy>
  <cp:revision>1</cp:revision>
  <dcterms:created xsi:type="dcterms:W3CDTF">2021-02-16T05:19:01Z</dcterms:created>
  <dcterms:modified xsi:type="dcterms:W3CDTF">2026-10-14T10:24:17Z</dcterms:modified>
</cp:coreProperties>
</file>